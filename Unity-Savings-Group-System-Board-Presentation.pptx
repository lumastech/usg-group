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 to repay</c:v>
                </c:pt>
              </c:strCache>
            </c:strRef>
          </c:tx>
          <c:spPr bwMode="auto">
            <a:prstGeom prst="rect">
              <a:avLst/>
            </a:prstGeom>
            <a:solidFill>
              <a:srgbClr val="C08A2E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1" i="0" u="none" strike="noStrike">
                    <a:solidFill>
                      <a:srgbClr val="16211C"/>
                    </a:solidFill>
                    <a:latin typeface="Calibri"/>
                  </a:defRPr>
                </a:pPr>
                <a:endParaRPr/>
              </a:p>
            </c:txPr>
          </c:dLbls>
          <c:cat>
            <c:multiLvlStrRef>
              <c:f>Sheet1!$A$2:$A$7</c:f>
              <c:multiLvlStrCache>
                <c:ptCount val="6"/>
                <c:lvl>
                  <c:pt idx="0">
                    <c:v>K1–2k</c:v>
                  </c:pt>
                  <c:pt idx="1">
                    <c:v>K5k</c:v>
                  </c:pt>
                  <c:pt idx="2">
                    <c:v>K10k</c:v>
                  </c:pt>
                  <c:pt idx="3">
                    <c:v>K15k</c:v>
                  </c:pt>
                  <c:pt idx="4">
                    <c:v>K20k</c:v>
                  </c:pt>
                  <c:pt idx="5">
                    <c:v>K30k+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1" i="0" u="none" strike="noStrike">
                  <a:solidFill>
                    <a:srgbClr val="16211C"/>
                  </a:solidFill>
                  <a:latin typeface="Calibri"/>
                </a:defRPr>
              </a:pPr>
              <a:endParaRPr/>
            </a:p>
          </c:txPr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.000000"/>
        </c:scaling>
        <c:delete val="0"/>
        <c:axPos val="b"/>
        <c:majorGridlines>
          <c:spPr bwMode="auto">
            <a:prstGeom prst="rect">
              <a:avLst/>
            </a:prstGeom>
            <a:ln w="12700" cap="flat">
              <a:solidFill>
                <a:srgbClr val="E6EB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6720840" y="2103120"/>
      <a:ext cx="4800600" cy="379476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09387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970838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97672059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6728520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811714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767838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119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7088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Opening: we are not proposing new rules. We are proposing that the rules the group already agreed on get enforced automatically, and that every kwacha is traceable.</a:t>
            </a:r>
            <a:endParaRPr lang="en-US"/>
          </a:p>
        </p:txBody>
      </p:sp>
      <p:sp>
        <p:nvSpPr>
          <p:cNvPr id="1245885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521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2083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Frame the pain in terms of trust, not technology. The board's exposure is disputes at share-out.</a:t>
            </a:r>
            <a:endParaRPr lang="en-US"/>
          </a:p>
        </p:txBody>
      </p:sp>
      <p:sp>
        <p:nvSpPr>
          <p:cNvPr id="1152329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600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8463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Do not walk the board through all nine in depth. Signal that the map is complete, then go deep on money-touching modules: savings, loans, share-out.</a:t>
            </a:r>
            <a:endParaRPr lang="en-US"/>
          </a:p>
        </p:txBody>
      </p:sp>
      <p:sp>
        <p:nvSpPr>
          <p:cNvPr id="12727435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014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5603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8198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3703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801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655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482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049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chart is the group's existing repayment ladder, not a new proposal. Emphasise that nothing here changes policy.</a:t>
            </a:r>
            <a:endParaRPr lang="en-US"/>
          </a:p>
        </p:txBody>
      </p:sp>
      <p:sp>
        <p:nvSpPr>
          <p:cNvPr id="349433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218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4784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2097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454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182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8021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418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5763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6772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782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9195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504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506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175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1125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3437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7966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3186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515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285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0379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498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634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9970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31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0676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510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554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696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Close by returning to trust: the system's job is to make sure that at share-out, every member's figure is one nobody has to argue about.</a:t>
            </a:r>
            <a:endParaRPr lang="en-US"/>
          </a:p>
        </p:txBody>
      </p:sp>
      <p:sp>
        <p:nvSpPr>
          <p:cNvPr id="1846935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C2E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875486" name="Shape 0"/>
          <p:cNvSpPr/>
          <p:nvPr/>
        </p:nvSpPr>
        <p:spPr bwMode="auto">
          <a:xfrm>
            <a:off x="9509760" y="4206240"/>
            <a:ext cx="4206240" cy="4206240"/>
          </a:xfrm>
          <a:prstGeom prst="ellipse">
            <a:avLst/>
          </a:prstGeom>
          <a:solidFill>
            <a:srgbClr val="14503B">
              <a:alpha val="55000"/>
            </a:srgbClr>
          </a:solidFill>
          <a:ln/>
        </p:spPr>
      </p:sp>
      <p:sp>
        <p:nvSpPr>
          <p:cNvPr id="878305326" name="Shape 1"/>
          <p:cNvSpPr/>
          <p:nvPr/>
        </p:nvSpPr>
        <p:spPr bwMode="auto">
          <a:xfrm>
            <a:off x="10881360" y="5394960"/>
            <a:ext cx="2011680" cy="2011680"/>
          </a:xfrm>
          <a:prstGeom prst="ellipse">
            <a:avLst/>
          </a:prstGeom>
          <a:solidFill>
            <a:srgbClr val="C08A2E">
              <a:alpha val="45000"/>
            </a:srgbClr>
          </a:solidFill>
          <a:ln/>
        </p:spPr>
      </p:sp>
      <p:sp>
        <p:nvSpPr>
          <p:cNvPr id="1360102687" name="Shape 2"/>
          <p:cNvSpPr/>
          <p:nvPr/>
        </p:nvSpPr>
        <p:spPr bwMode="auto">
          <a:xfrm>
            <a:off x="822960" y="117043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</p:sp>
      <p:sp>
        <p:nvSpPr>
          <p:cNvPr id="328795924" name="Text 3"/>
          <p:cNvSpPr/>
          <p:nvPr/>
        </p:nvSpPr>
        <p:spPr bwMode="auto">
          <a:xfrm>
            <a:off x="822960" y="11704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 spc="150">
                <a:solidFill>
                  <a:srgbClr val="0C2E22"/>
                </a:solidFill>
                <a:latin typeface="Calibri"/>
                <a:ea typeface="Calibri"/>
                <a:cs typeface="Calibri"/>
              </a:rPr>
              <a:t>BOARD PRESENTATION</a:t>
            </a:r>
            <a:endParaRPr lang="en-US" sz="1050"/>
          </a:p>
        </p:txBody>
      </p:sp>
      <p:sp>
        <p:nvSpPr>
          <p:cNvPr id="1993889683" name="Text 4"/>
          <p:cNvSpPr/>
          <p:nvPr/>
        </p:nvSpPr>
        <p:spPr bwMode="auto">
          <a:xfrm>
            <a:off x="777240" y="1783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Unity Savings Group</a:t>
            </a:r>
            <a:endParaRPr lang="en-US" sz="5200"/>
          </a:p>
        </p:txBody>
      </p:sp>
      <p:sp>
        <p:nvSpPr>
          <p:cNvPr id="206277788" name="Text 5"/>
          <p:cNvSpPr/>
          <p:nvPr/>
        </p:nvSpPr>
        <p:spPr bwMode="auto">
          <a:xfrm>
            <a:off x="777240" y="257860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Management System</a:t>
            </a:r>
            <a:endParaRPr lang="en-US" sz="5200"/>
          </a:p>
        </p:txBody>
      </p:sp>
      <p:sp>
        <p:nvSpPr>
          <p:cNvPr id="1972154651" name="Text 6"/>
          <p:cNvSpPr/>
          <p:nvPr/>
        </p:nvSpPr>
        <p:spPr bwMode="auto">
          <a:xfrm>
            <a:off x="822960" y="3611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600">
                <a:solidFill>
                  <a:srgbClr val="C7D3CC"/>
                </a:solidFill>
                <a:latin typeface="Calibri"/>
                <a:ea typeface="Calibri"/>
                <a:cs typeface="Calibri"/>
              </a:rPr>
              <a:t>From spreadsheets to a single source of truth — a purpose-built platform for the 2025/26 savings and lending cycle.</a:t>
            </a:r>
            <a:endParaRPr lang="en-US" sz="1600"/>
          </a:p>
        </p:txBody>
      </p:sp>
      <p:sp>
        <p:nvSpPr>
          <p:cNvPr id="297789870" name="Shape 7"/>
          <p:cNvSpPr/>
          <p:nvPr/>
        </p:nvSpPr>
        <p:spPr bwMode="auto">
          <a:xfrm>
            <a:off x="822960" y="4800600"/>
            <a:ext cx="2880360" cy="502920"/>
          </a:xfrm>
          <a:prstGeom prst="roundRect">
            <a:avLst>
              <a:gd name="adj" fmla="val 21818"/>
            </a:avLst>
          </a:prstGeom>
          <a:solidFill>
            <a:srgbClr val="14503B"/>
          </a:solidFill>
          <a:ln/>
        </p:spPr>
      </p:sp>
      <p:sp>
        <p:nvSpPr>
          <p:cNvPr id="356780179" name="Text 8"/>
          <p:cNvSpPr/>
          <p:nvPr/>
        </p:nvSpPr>
        <p:spPr bwMode="auto">
          <a:xfrm>
            <a:off x="822960" y="48006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9 Modules</a:t>
            </a:r>
            <a:endParaRPr lang="en-US" sz="1150"/>
          </a:p>
        </p:txBody>
      </p:sp>
      <p:sp>
        <p:nvSpPr>
          <p:cNvPr id="1547155333" name="Shape 9"/>
          <p:cNvSpPr/>
          <p:nvPr/>
        </p:nvSpPr>
        <p:spPr bwMode="auto">
          <a:xfrm>
            <a:off x="3886200" y="4800600"/>
            <a:ext cx="2880360" cy="502920"/>
          </a:xfrm>
          <a:prstGeom prst="roundRect">
            <a:avLst>
              <a:gd name="adj" fmla="val 21818"/>
            </a:avLst>
          </a:prstGeom>
          <a:solidFill>
            <a:srgbClr val="14503B"/>
          </a:solidFill>
          <a:ln/>
        </p:spPr>
      </p:sp>
      <p:sp>
        <p:nvSpPr>
          <p:cNvPr id="39696465" name="Text 10"/>
          <p:cNvSpPr/>
          <p:nvPr/>
        </p:nvSpPr>
        <p:spPr bwMode="auto">
          <a:xfrm>
            <a:off x="3886200" y="48006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Every rule in the constitution, enforced</a:t>
            </a:r>
            <a:endParaRPr lang="en-US" sz="1150"/>
          </a:p>
        </p:txBody>
      </p:sp>
      <p:sp>
        <p:nvSpPr>
          <p:cNvPr id="131251141" name="Shape 11"/>
          <p:cNvSpPr/>
          <p:nvPr/>
        </p:nvSpPr>
        <p:spPr bwMode="auto">
          <a:xfrm>
            <a:off x="6949440" y="4800600"/>
            <a:ext cx="2880360" cy="502920"/>
          </a:xfrm>
          <a:prstGeom prst="roundRect">
            <a:avLst>
              <a:gd name="adj" fmla="val 21818"/>
            </a:avLst>
          </a:prstGeom>
          <a:solidFill>
            <a:srgbClr val="14503B"/>
          </a:solidFill>
          <a:ln/>
        </p:spPr>
      </p:sp>
      <p:sp>
        <p:nvSpPr>
          <p:cNvPr id="1355630070" name="Text 12"/>
          <p:cNvSpPr/>
          <p:nvPr/>
        </p:nvSpPr>
        <p:spPr bwMode="auto">
          <a:xfrm>
            <a:off x="6949440" y="48006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Built for phones</a:t>
            </a:r>
            <a:endParaRPr lang="en-US" sz="1150"/>
          </a:p>
        </p:txBody>
      </p:sp>
      <p:sp>
        <p:nvSpPr>
          <p:cNvPr id="305448798" name="Text 13"/>
          <p:cNvSpPr/>
          <p:nvPr/>
        </p:nvSpPr>
        <p:spPr bwMode="auto">
          <a:xfrm>
            <a:off x="822960" y="603503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FA398"/>
                </a:solidFill>
                <a:latin typeface="Calibri"/>
                <a:ea typeface="Calibri"/>
                <a:cs typeface="Calibri"/>
              </a:rPr>
              <a:t>Prepared for the Executive Committee  ·  Cycle: December 2025 – November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232514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1084531980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50"/>
          </a:p>
        </p:txBody>
      </p:sp>
      <p:sp>
        <p:nvSpPr>
          <p:cNvPr id="1980943763" name="Text 2"/>
          <p:cNvSpPr/>
          <p:nvPr/>
        </p:nvSpPr>
        <p:spPr bwMode="auto">
          <a:xfrm>
            <a:off x="566928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The rules are sound. The bookkeeping is not.</a:t>
            </a:r>
            <a:endParaRPr lang="en-US" sz="3300"/>
          </a:p>
        </p:txBody>
      </p:sp>
      <p:sp>
        <p:nvSpPr>
          <p:cNvPr id="1316867577" name="Text 3"/>
          <p:cNvSpPr/>
          <p:nvPr/>
        </p:nvSpPr>
        <p:spPr bwMode="auto">
          <a:xfrm>
            <a:off x="566928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The constitution is sound. The spreadsheets that carry it are not built to enforce it.</a:t>
            </a:r>
            <a:endParaRPr lang="en-US" sz="1450"/>
          </a:p>
        </p:txBody>
      </p:sp>
      <p:sp>
        <p:nvSpPr>
          <p:cNvPr id="2060616957" name="Shape 4"/>
          <p:cNvSpPr/>
          <p:nvPr/>
        </p:nvSpPr>
        <p:spPr bwMode="auto">
          <a:xfrm>
            <a:off x="566928" y="18288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1352121247" name="Shape 5"/>
          <p:cNvSpPr/>
          <p:nvPr/>
        </p:nvSpPr>
        <p:spPr bwMode="auto">
          <a:xfrm>
            <a:off x="822960" y="2048256"/>
            <a:ext cx="384048" cy="38404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268178772" name="Text 6"/>
          <p:cNvSpPr/>
          <p:nvPr/>
        </p:nvSpPr>
        <p:spPr bwMode="auto">
          <a:xfrm>
            <a:off x="82296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200"/>
          </a:p>
        </p:txBody>
      </p:sp>
      <p:sp>
        <p:nvSpPr>
          <p:cNvPr id="2046116868" name="Text 7"/>
          <p:cNvSpPr/>
          <p:nvPr/>
        </p:nvSpPr>
        <p:spPr bwMode="auto">
          <a:xfrm>
            <a:off x="1335024" y="201168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Manual month columns</a:t>
            </a:r>
            <a:endParaRPr lang="en-US" sz="1550"/>
          </a:p>
        </p:txBody>
      </p:sp>
      <p:sp>
        <p:nvSpPr>
          <p:cNvPr id="1246679375" name="Text 8"/>
          <p:cNvSpPr/>
          <p:nvPr/>
        </p:nvSpPr>
        <p:spPr bwMode="auto">
          <a:xfrm>
            <a:off x="841248" y="2432303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SAVINGS and SHARE OUT sheets are re-keyed every month. One mis-typed cell moves a member's net value.</a:t>
            </a:r>
            <a:endParaRPr lang="en-US" sz="1250"/>
          </a:p>
        </p:txBody>
      </p:sp>
      <p:sp>
        <p:nvSpPr>
          <p:cNvPr id="1424346985" name="Shape 9"/>
          <p:cNvSpPr/>
          <p:nvPr/>
        </p:nvSpPr>
        <p:spPr bwMode="auto">
          <a:xfrm>
            <a:off x="6190488" y="182880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287862342" name="Shape 10"/>
          <p:cNvSpPr/>
          <p:nvPr/>
        </p:nvSpPr>
        <p:spPr bwMode="auto">
          <a:xfrm>
            <a:off x="6446520" y="2048256"/>
            <a:ext cx="384048" cy="38404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850014627" name="Text 11"/>
          <p:cNvSpPr/>
          <p:nvPr/>
        </p:nvSpPr>
        <p:spPr bwMode="auto">
          <a:xfrm>
            <a:off x="644652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200"/>
          </a:p>
        </p:txBody>
      </p:sp>
      <p:sp>
        <p:nvSpPr>
          <p:cNvPr id="877734631" name="Text 12"/>
          <p:cNvSpPr/>
          <p:nvPr/>
        </p:nvSpPr>
        <p:spPr bwMode="auto">
          <a:xfrm>
            <a:off x="6958584" y="201168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Rules enforced by memory</a:t>
            </a:r>
            <a:endParaRPr lang="en-US" sz="1550"/>
          </a:p>
        </p:txBody>
      </p:sp>
      <p:sp>
        <p:nvSpPr>
          <p:cNvPr id="2090801838" name="Text 13"/>
          <p:cNvSpPr/>
          <p:nvPr/>
        </p:nvSpPr>
        <p:spPr bwMode="auto">
          <a:xfrm>
            <a:off x="6464808" y="2432303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The 2× savings loan ceiling, the K500 increment, the September cap — all depend on someone remembering.</a:t>
            </a:r>
            <a:endParaRPr lang="en-US" sz="1250"/>
          </a:p>
        </p:txBody>
      </p:sp>
      <p:sp>
        <p:nvSpPr>
          <p:cNvPr id="388706130" name="Shape 14"/>
          <p:cNvSpPr/>
          <p:nvPr/>
        </p:nvSpPr>
        <p:spPr bwMode="auto">
          <a:xfrm>
            <a:off x="566928" y="3401568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525310395" name="Shape 15"/>
          <p:cNvSpPr/>
          <p:nvPr/>
        </p:nvSpPr>
        <p:spPr bwMode="auto">
          <a:xfrm>
            <a:off x="822960" y="3621024"/>
            <a:ext cx="384048" cy="38404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9954064" name="Text 16"/>
          <p:cNvSpPr/>
          <p:nvPr/>
        </p:nvSpPr>
        <p:spPr bwMode="auto">
          <a:xfrm>
            <a:off x="82296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200"/>
          </a:p>
        </p:txBody>
      </p:sp>
      <p:sp>
        <p:nvSpPr>
          <p:cNvPr id="1946045490" name="Text 17"/>
          <p:cNvSpPr/>
          <p:nvPr/>
        </p:nvSpPr>
        <p:spPr bwMode="auto">
          <a:xfrm>
            <a:off x="1335024" y="358444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No audit trail</a:t>
            </a:r>
            <a:endParaRPr lang="en-US" sz="1550"/>
          </a:p>
        </p:txBody>
      </p:sp>
      <p:sp>
        <p:nvSpPr>
          <p:cNvPr id="1766892125" name="Text 18"/>
          <p:cNvSpPr/>
          <p:nvPr/>
        </p:nvSpPr>
        <p:spPr bwMode="auto">
          <a:xfrm>
            <a:off x="841248" y="400507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When a figure is disputed there is no record of who entered it, when, or what it replaced.</a:t>
            </a:r>
            <a:endParaRPr lang="en-US" sz="1250"/>
          </a:p>
        </p:txBody>
      </p:sp>
      <p:sp>
        <p:nvSpPr>
          <p:cNvPr id="319314479" name="Shape 19"/>
          <p:cNvSpPr/>
          <p:nvPr/>
        </p:nvSpPr>
        <p:spPr bwMode="auto">
          <a:xfrm>
            <a:off x="6190488" y="3401568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257724044" name="Shape 20"/>
          <p:cNvSpPr/>
          <p:nvPr/>
        </p:nvSpPr>
        <p:spPr bwMode="auto">
          <a:xfrm>
            <a:off x="6446520" y="3621024"/>
            <a:ext cx="384048" cy="38404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05887989" name="Text 21"/>
          <p:cNvSpPr/>
          <p:nvPr/>
        </p:nvSpPr>
        <p:spPr bwMode="auto">
          <a:xfrm>
            <a:off x="644652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200"/>
          </a:p>
        </p:txBody>
      </p:sp>
      <p:sp>
        <p:nvSpPr>
          <p:cNvPr id="1636207906" name="Text 22"/>
          <p:cNvSpPr/>
          <p:nvPr/>
        </p:nvSpPr>
        <p:spPr bwMode="auto">
          <a:xfrm>
            <a:off x="6958584" y="358444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Interest and penalties by hand</a:t>
            </a:r>
            <a:endParaRPr lang="en-US" sz="1550"/>
          </a:p>
        </p:txBody>
      </p:sp>
      <p:sp>
        <p:nvSpPr>
          <p:cNvPr id="1586764785" name="Text 23"/>
          <p:cNvSpPr/>
          <p:nvPr/>
        </p:nvSpPr>
        <p:spPr bwMode="auto">
          <a:xfrm>
            <a:off x="6464808" y="400507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5% reducing balance, K100/day late fees and 10% </a:t>
            </a:r>
            <a:r>
              <a:rPr lang="en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on socil funds</a:t>
            </a:r>
            <a:endParaRPr lang="en-US" sz="1250"/>
          </a:p>
        </p:txBody>
      </p:sp>
      <p:sp>
        <p:nvSpPr>
          <p:cNvPr id="1999509224" name="Shape 24"/>
          <p:cNvSpPr/>
          <p:nvPr/>
        </p:nvSpPr>
        <p:spPr bwMode="auto">
          <a:xfrm>
            <a:off x="566928" y="50749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0C2E22"/>
          </a:solidFill>
          <a:ln/>
        </p:spPr>
      </p:sp>
      <p:sp>
        <p:nvSpPr>
          <p:cNvPr id="834921739" name="Text 25"/>
          <p:cNvSpPr/>
          <p:nvPr/>
        </p:nvSpPr>
        <p:spPr bwMode="auto">
          <a:xfrm>
            <a:off x="914400" y="507492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The cost of an error is real money. </a:t>
            </a:r>
            <a:r>
              <a:rPr lang="en-US" sz="145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At share-out, an untraceable K500 discrepancy is a dispute between neighbours — not a support ticket.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23809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883854947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50"/>
          </a:p>
        </p:txBody>
      </p:sp>
      <p:sp>
        <p:nvSpPr>
          <p:cNvPr id="2132766960" name="Text 2"/>
          <p:cNvSpPr/>
          <p:nvPr/>
        </p:nvSpPr>
        <p:spPr bwMode="auto">
          <a:xfrm>
            <a:off x="566928" y="4572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Nine modules, one system</a:t>
            </a:r>
            <a:endParaRPr lang="en-US" sz="3400"/>
          </a:p>
        </p:txBody>
      </p:sp>
      <p:sp>
        <p:nvSpPr>
          <p:cNvPr id="1947712840" name="Text 3"/>
          <p:cNvSpPr/>
          <p:nvPr/>
        </p:nvSpPr>
        <p:spPr bwMode="auto">
          <a:xfrm>
            <a:off x="56692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Each module maps directly onto a section of the constitution and a sheet in the current workbook.</a:t>
            </a:r>
            <a:endParaRPr lang="en-US" sz="1400"/>
          </a:p>
        </p:txBody>
      </p:sp>
      <p:sp>
        <p:nvSpPr>
          <p:cNvPr id="1307051972" name="Shape 4"/>
          <p:cNvSpPr/>
          <p:nvPr/>
        </p:nvSpPr>
        <p:spPr bwMode="auto">
          <a:xfrm>
            <a:off x="566928" y="1627632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647926480" name="Shape 5"/>
          <p:cNvSpPr/>
          <p:nvPr/>
        </p:nvSpPr>
        <p:spPr bwMode="auto">
          <a:xfrm>
            <a:off x="804672" y="1847088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905583598" name="Text 6"/>
          <p:cNvSpPr/>
          <p:nvPr/>
        </p:nvSpPr>
        <p:spPr bwMode="auto">
          <a:xfrm>
            <a:off x="80467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200"/>
          </a:p>
        </p:txBody>
      </p:sp>
      <p:sp>
        <p:nvSpPr>
          <p:cNvPr id="1546301791" name="Text 7"/>
          <p:cNvSpPr/>
          <p:nvPr/>
        </p:nvSpPr>
        <p:spPr bwMode="auto">
          <a:xfrm>
            <a:off x="1335024" y="18105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Member Management</a:t>
            </a:r>
            <a:endParaRPr lang="en-US" sz="1450"/>
          </a:p>
        </p:txBody>
      </p:sp>
      <p:sp>
        <p:nvSpPr>
          <p:cNvPr id="854466069" name="Text 8"/>
          <p:cNvSpPr/>
          <p:nvPr/>
        </p:nvSpPr>
        <p:spPr bwMode="auto">
          <a:xfrm>
            <a:off x="804672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Registry, next-of-kin, joining fees</a:t>
            </a:r>
            <a:endParaRPr lang="en-US" sz="1150"/>
          </a:p>
        </p:txBody>
      </p:sp>
      <p:sp>
        <p:nvSpPr>
          <p:cNvPr id="890896292" name="Shape 9"/>
          <p:cNvSpPr/>
          <p:nvPr/>
        </p:nvSpPr>
        <p:spPr bwMode="auto">
          <a:xfrm>
            <a:off x="4270248" y="1627632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657771982" name="Shape 10"/>
          <p:cNvSpPr/>
          <p:nvPr/>
        </p:nvSpPr>
        <p:spPr bwMode="auto">
          <a:xfrm>
            <a:off x="4507992" y="1847088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029088044" name="Text 11"/>
          <p:cNvSpPr/>
          <p:nvPr/>
        </p:nvSpPr>
        <p:spPr bwMode="auto">
          <a:xfrm>
            <a:off x="450799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200"/>
          </a:p>
        </p:txBody>
      </p:sp>
      <p:sp>
        <p:nvSpPr>
          <p:cNvPr id="1138072227" name="Text 12"/>
          <p:cNvSpPr/>
          <p:nvPr/>
        </p:nvSpPr>
        <p:spPr bwMode="auto">
          <a:xfrm>
            <a:off x="5038344" y="18105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Savings</a:t>
            </a:r>
            <a:endParaRPr lang="en-US" sz="1450"/>
          </a:p>
        </p:txBody>
      </p:sp>
      <p:sp>
        <p:nvSpPr>
          <p:cNvPr id="1292186601" name="Text 13"/>
          <p:cNvSpPr/>
          <p:nvPr/>
        </p:nvSpPr>
        <p:spPr bwMode="auto">
          <a:xfrm>
            <a:off x="4507992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Monthly ledger, net value, caps</a:t>
            </a:r>
            <a:endParaRPr lang="en-US" sz="1150"/>
          </a:p>
        </p:txBody>
      </p:sp>
      <p:sp>
        <p:nvSpPr>
          <p:cNvPr id="1821480316" name="Shape 14"/>
          <p:cNvSpPr/>
          <p:nvPr/>
        </p:nvSpPr>
        <p:spPr bwMode="auto">
          <a:xfrm>
            <a:off x="7973568" y="1627632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666971602" name="Shape 15"/>
          <p:cNvSpPr/>
          <p:nvPr/>
        </p:nvSpPr>
        <p:spPr bwMode="auto">
          <a:xfrm>
            <a:off x="8211312" y="1847088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394984151" name="Text 16"/>
          <p:cNvSpPr/>
          <p:nvPr/>
        </p:nvSpPr>
        <p:spPr bwMode="auto">
          <a:xfrm>
            <a:off x="821131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200"/>
          </a:p>
        </p:txBody>
      </p:sp>
      <p:sp>
        <p:nvSpPr>
          <p:cNvPr id="1370101346" name="Text 17"/>
          <p:cNvSpPr/>
          <p:nvPr/>
        </p:nvSpPr>
        <p:spPr bwMode="auto">
          <a:xfrm>
            <a:off x="8741664" y="18105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Loans &amp; Lending</a:t>
            </a:r>
            <a:endParaRPr lang="en-US" sz="1450"/>
          </a:p>
        </p:txBody>
      </p:sp>
      <p:sp>
        <p:nvSpPr>
          <p:cNvPr id="1716574161" name="Text 18"/>
          <p:cNvSpPr/>
          <p:nvPr/>
        </p:nvSpPr>
        <p:spPr bwMode="auto">
          <a:xfrm>
            <a:off x="8211312" y="2377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Limits, schedules, interest, penalties</a:t>
            </a:r>
            <a:endParaRPr lang="en-US" sz="1150"/>
          </a:p>
        </p:txBody>
      </p:sp>
      <p:sp>
        <p:nvSpPr>
          <p:cNvPr id="87612629" name="Shape 19"/>
          <p:cNvSpPr/>
          <p:nvPr/>
        </p:nvSpPr>
        <p:spPr bwMode="auto">
          <a:xfrm>
            <a:off x="566928" y="3108960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701805539" name="Shape 20"/>
          <p:cNvSpPr/>
          <p:nvPr/>
        </p:nvSpPr>
        <p:spPr bwMode="auto">
          <a:xfrm>
            <a:off x="804672" y="3328416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968319885" name="Text 21"/>
          <p:cNvSpPr/>
          <p:nvPr/>
        </p:nvSpPr>
        <p:spPr bwMode="auto">
          <a:xfrm>
            <a:off x="80467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200"/>
          </a:p>
        </p:txBody>
      </p:sp>
      <p:sp>
        <p:nvSpPr>
          <p:cNvPr id="1356806046" name="Text 22"/>
          <p:cNvSpPr/>
          <p:nvPr/>
        </p:nvSpPr>
        <p:spPr bwMode="auto">
          <a:xfrm>
            <a:off x="1335024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Social Fund</a:t>
            </a:r>
            <a:endParaRPr lang="en-US" sz="1450"/>
          </a:p>
        </p:txBody>
      </p:sp>
      <p:sp>
        <p:nvSpPr>
          <p:cNvPr id="1231090280" name="Text 23"/>
          <p:cNvSpPr/>
          <p:nvPr/>
        </p:nvSpPr>
        <p:spPr bwMode="auto">
          <a:xfrm>
            <a:off x="804672" y="3858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K250 contributions, grants, payouts</a:t>
            </a:r>
            <a:endParaRPr lang="en-US" sz="1150"/>
          </a:p>
        </p:txBody>
      </p:sp>
      <p:sp>
        <p:nvSpPr>
          <p:cNvPr id="1783845318" name="Shape 24"/>
          <p:cNvSpPr/>
          <p:nvPr/>
        </p:nvSpPr>
        <p:spPr bwMode="auto">
          <a:xfrm>
            <a:off x="4270248" y="3108960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682831029" name="Shape 25"/>
          <p:cNvSpPr/>
          <p:nvPr/>
        </p:nvSpPr>
        <p:spPr bwMode="auto">
          <a:xfrm>
            <a:off x="4507992" y="3328416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79358587" name="Text 26"/>
          <p:cNvSpPr/>
          <p:nvPr/>
        </p:nvSpPr>
        <p:spPr bwMode="auto">
          <a:xfrm>
            <a:off x="450799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200"/>
          </a:p>
        </p:txBody>
      </p:sp>
      <p:sp>
        <p:nvSpPr>
          <p:cNvPr id="471655122" name="Text 27"/>
          <p:cNvSpPr/>
          <p:nvPr/>
        </p:nvSpPr>
        <p:spPr bwMode="auto">
          <a:xfrm>
            <a:off x="5038344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Declarations &amp; Trading</a:t>
            </a:r>
            <a:endParaRPr lang="en-US" sz="1450"/>
          </a:p>
        </p:txBody>
      </p:sp>
      <p:sp>
        <p:nvSpPr>
          <p:cNvPr id="2082560349" name="Text 28"/>
          <p:cNvSpPr/>
          <p:nvPr/>
        </p:nvSpPr>
        <p:spPr bwMode="auto">
          <a:xfrm>
            <a:off x="4507992" y="3858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Monthly window, disbursement queue</a:t>
            </a:r>
            <a:endParaRPr lang="en-US" sz="1150"/>
          </a:p>
        </p:txBody>
      </p:sp>
      <p:sp>
        <p:nvSpPr>
          <p:cNvPr id="662537900" name="Shape 29"/>
          <p:cNvSpPr/>
          <p:nvPr/>
        </p:nvSpPr>
        <p:spPr bwMode="auto">
          <a:xfrm>
            <a:off x="7973568" y="3108960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650406200" name="Shape 30"/>
          <p:cNvSpPr/>
          <p:nvPr/>
        </p:nvSpPr>
        <p:spPr bwMode="auto">
          <a:xfrm>
            <a:off x="8211312" y="3328416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728614723" name="Text 31"/>
          <p:cNvSpPr/>
          <p:nvPr/>
        </p:nvSpPr>
        <p:spPr bwMode="auto">
          <a:xfrm>
            <a:off x="821131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200"/>
          </a:p>
        </p:txBody>
      </p:sp>
      <p:sp>
        <p:nvSpPr>
          <p:cNvPr id="1701093321" name="Text 32"/>
          <p:cNvSpPr/>
          <p:nvPr/>
        </p:nvSpPr>
        <p:spPr bwMode="auto">
          <a:xfrm>
            <a:off x="8741664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Governance</a:t>
            </a:r>
            <a:endParaRPr lang="en-US" sz="1450"/>
          </a:p>
        </p:txBody>
      </p:sp>
      <p:sp>
        <p:nvSpPr>
          <p:cNvPr id="1148147003" name="Text 33"/>
          <p:cNvSpPr/>
          <p:nvPr/>
        </p:nvSpPr>
        <p:spPr bwMode="auto">
          <a:xfrm>
            <a:off x="8211312" y="38587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Terms, votes, quorum, amendments</a:t>
            </a:r>
            <a:endParaRPr lang="en-US" sz="1150"/>
          </a:p>
        </p:txBody>
      </p:sp>
      <p:sp>
        <p:nvSpPr>
          <p:cNvPr id="838974508" name="Shape 34"/>
          <p:cNvSpPr/>
          <p:nvPr/>
        </p:nvSpPr>
        <p:spPr bwMode="auto">
          <a:xfrm>
            <a:off x="566928" y="4590288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608433813" name="Shape 35"/>
          <p:cNvSpPr/>
          <p:nvPr/>
        </p:nvSpPr>
        <p:spPr bwMode="auto">
          <a:xfrm>
            <a:off x="804672" y="4809744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628720187" name="Text 36"/>
          <p:cNvSpPr/>
          <p:nvPr/>
        </p:nvSpPr>
        <p:spPr bwMode="auto">
          <a:xfrm>
            <a:off x="804672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lang="en-US" sz="1200"/>
          </a:p>
        </p:txBody>
      </p:sp>
      <p:sp>
        <p:nvSpPr>
          <p:cNvPr id="1700616850" name="Text 37"/>
          <p:cNvSpPr/>
          <p:nvPr/>
        </p:nvSpPr>
        <p:spPr bwMode="auto">
          <a:xfrm>
            <a:off x="1335024" y="47731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Exit &amp; Bereavement</a:t>
            </a:r>
            <a:endParaRPr lang="en-US" sz="1450"/>
          </a:p>
        </p:txBody>
      </p:sp>
      <p:sp>
        <p:nvSpPr>
          <p:cNvPr id="321637692" name="Text 38"/>
          <p:cNvSpPr/>
          <p:nvPr/>
        </p:nvSpPr>
        <p:spPr bwMode="auto">
          <a:xfrm>
            <a:off x="804672" y="53400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Leaver, expulsion, funeral payouts</a:t>
            </a:r>
            <a:endParaRPr lang="en-US" sz="1150"/>
          </a:p>
        </p:txBody>
      </p:sp>
      <p:sp>
        <p:nvSpPr>
          <p:cNvPr id="895645588" name="Shape 39"/>
          <p:cNvSpPr/>
          <p:nvPr/>
        </p:nvSpPr>
        <p:spPr bwMode="auto">
          <a:xfrm>
            <a:off x="4270248" y="4590288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652641832" name="Shape 40"/>
          <p:cNvSpPr/>
          <p:nvPr/>
        </p:nvSpPr>
        <p:spPr bwMode="auto">
          <a:xfrm>
            <a:off x="4507992" y="4809744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743867451" name="Text 41"/>
          <p:cNvSpPr/>
          <p:nvPr/>
        </p:nvSpPr>
        <p:spPr bwMode="auto">
          <a:xfrm>
            <a:off x="4507992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lang="en-US" sz="1200"/>
          </a:p>
        </p:txBody>
      </p:sp>
      <p:sp>
        <p:nvSpPr>
          <p:cNvPr id="1849629416" name="Text 42"/>
          <p:cNvSpPr/>
          <p:nvPr/>
        </p:nvSpPr>
        <p:spPr bwMode="auto">
          <a:xfrm>
            <a:off x="5038344" y="47731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Share-Out &amp; Reporting</a:t>
            </a:r>
            <a:endParaRPr lang="en-US" sz="1450"/>
          </a:p>
        </p:txBody>
      </p:sp>
      <p:sp>
        <p:nvSpPr>
          <p:cNvPr id="1374661949" name="Text 43"/>
          <p:cNvSpPr/>
          <p:nvPr/>
        </p:nvSpPr>
        <p:spPr bwMode="auto">
          <a:xfrm>
            <a:off x="4507992" y="53400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End-of-cycle calculator, statements</a:t>
            </a:r>
            <a:endParaRPr lang="en-US" sz="1150"/>
          </a:p>
        </p:txBody>
      </p:sp>
      <p:sp>
        <p:nvSpPr>
          <p:cNvPr id="1727111639" name="Shape 44"/>
          <p:cNvSpPr/>
          <p:nvPr/>
        </p:nvSpPr>
        <p:spPr bwMode="auto">
          <a:xfrm>
            <a:off x="7973568" y="4590288"/>
            <a:ext cx="3429000" cy="1298448"/>
          </a:xfrm>
          <a:prstGeom prst="roundRect">
            <a:avLst>
              <a:gd name="adj" fmla="val 7042"/>
            </a:avLst>
          </a:prstGeom>
          <a:solidFill>
            <a:srgbClr val="F2F4F1"/>
          </a:solidFill>
          <a:ln/>
        </p:spPr>
      </p:sp>
      <p:sp>
        <p:nvSpPr>
          <p:cNvPr id="1275131363" name="Shape 45"/>
          <p:cNvSpPr/>
          <p:nvPr/>
        </p:nvSpPr>
        <p:spPr bwMode="auto">
          <a:xfrm>
            <a:off x="8211312" y="4809744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229671523" name="Text 46"/>
          <p:cNvSpPr/>
          <p:nvPr/>
        </p:nvSpPr>
        <p:spPr bwMode="auto">
          <a:xfrm>
            <a:off x="8211312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  <a:endParaRPr lang="en-US" sz="1200"/>
          </a:p>
        </p:txBody>
      </p:sp>
      <p:sp>
        <p:nvSpPr>
          <p:cNvPr id="278830322" name="Text 47"/>
          <p:cNvSpPr/>
          <p:nvPr/>
        </p:nvSpPr>
        <p:spPr bwMode="auto">
          <a:xfrm>
            <a:off x="8741664" y="47731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Notifications &amp; Audit</a:t>
            </a:r>
            <a:endParaRPr lang="en-US" sz="1450"/>
          </a:p>
        </p:txBody>
      </p:sp>
      <p:sp>
        <p:nvSpPr>
          <p:cNvPr id="1243786085" name="Text 48"/>
          <p:cNvSpPr/>
          <p:nvPr/>
        </p:nvSpPr>
        <p:spPr bwMode="auto">
          <a:xfrm>
            <a:off x="8211312" y="53400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Reminders, collateral log, trail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038606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404114396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50"/>
          </a:p>
        </p:txBody>
      </p:sp>
      <p:sp>
        <p:nvSpPr>
          <p:cNvPr id="1859150298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03299234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600"/>
          </a:p>
        </p:txBody>
      </p:sp>
      <p:sp>
        <p:nvSpPr>
          <p:cNvPr id="1952508763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ONE</a:t>
            </a:r>
            <a:endParaRPr lang="en-US" sz="1150"/>
          </a:p>
        </p:txBody>
      </p:sp>
      <p:sp>
        <p:nvSpPr>
          <p:cNvPr id="1204724869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Member Management</a:t>
            </a:r>
            <a:endParaRPr lang="en-US" sz="3300"/>
          </a:p>
        </p:txBody>
      </p:sp>
      <p:sp>
        <p:nvSpPr>
          <p:cNvPr id="1209549204" name="Shape 6"/>
          <p:cNvSpPr/>
          <p:nvPr/>
        </p:nvSpPr>
        <p:spPr bwMode="auto">
          <a:xfrm>
            <a:off x="566928" y="1481328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185510646" name="Text 7"/>
          <p:cNvSpPr/>
          <p:nvPr/>
        </p:nvSpPr>
        <p:spPr bwMode="auto">
          <a:xfrm>
            <a:off x="841248" y="1664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A registry that matches your commitment sheet</a:t>
            </a:r>
            <a:endParaRPr lang="en-US" sz="1550"/>
          </a:p>
        </p:txBody>
      </p:sp>
      <p:sp>
        <p:nvSpPr>
          <p:cNvPr id="337990664" name="Text 8"/>
          <p:cNvSpPr/>
          <p:nvPr/>
        </p:nvSpPr>
        <p:spPr bwMode="auto">
          <a:xfrm>
            <a:off x="841248" y="2084832"/>
            <a:ext cx="49377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Name, NRC, address and phone captured once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Next-of-kin name, contact and relationship on every record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Joining date stamped and immutable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Field-for-field parity with the paper form — no re-keying</a:t>
            </a:r>
            <a:endParaRPr lang="en-US" sz="1250"/>
          </a:p>
        </p:txBody>
      </p:sp>
      <p:sp>
        <p:nvSpPr>
          <p:cNvPr id="259739430" name="Shape 9"/>
          <p:cNvSpPr/>
          <p:nvPr/>
        </p:nvSpPr>
        <p:spPr bwMode="auto">
          <a:xfrm>
            <a:off x="6327648" y="1481328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754890334" name="Text 10"/>
          <p:cNvSpPr/>
          <p:nvPr/>
        </p:nvSpPr>
        <p:spPr bwMode="auto">
          <a:xfrm>
            <a:off x="6601968" y="16642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Joining fee status, tracked not remembered</a:t>
            </a:r>
            <a:endParaRPr lang="en-US" sz="1550"/>
          </a:p>
        </p:txBody>
      </p:sp>
      <p:sp>
        <p:nvSpPr>
          <p:cNvPr id="188377882" name="Text 11"/>
          <p:cNvSpPr/>
          <p:nvPr/>
        </p:nvSpPr>
        <p:spPr bwMode="auto">
          <a:xfrm>
            <a:off x="6601968" y="2084832"/>
            <a:ext cx="45720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K1,000 standard joining fee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K2,000 where a member joins in the third month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Outstanding fees visible on the member record and the committee dashboard</a:t>
            </a:r>
            <a:endParaRPr lang="en-US" sz="1250"/>
          </a:p>
        </p:txBody>
      </p:sp>
      <p:sp>
        <p:nvSpPr>
          <p:cNvPr id="917169244" name="Shape 12"/>
          <p:cNvSpPr/>
          <p:nvPr/>
        </p:nvSpPr>
        <p:spPr bwMode="auto">
          <a:xfrm>
            <a:off x="566928" y="3840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4503B"/>
          </a:solidFill>
          <a:ln/>
        </p:spPr>
      </p:sp>
      <p:sp>
        <p:nvSpPr>
          <p:cNvPr id="1573127227" name="Text 13"/>
          <p:cNvSpPr/>
          <p:nvPr/>
        </p:nvSpPr>
        <p:spPr bwMode="auto">
          <a:xfrm>
            <a:off x="713232" y="4005072"/>
            <a:ext cx="2313432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K1,000</a:t>
            </a:r>
            <a:endParaRPr lang="en-US" sz="3400"/>
          </a:p>
        </p:txBody>
      </p:sp>
      <p:sp>
        <p:nvSpPr>
          <p:cNvPr id="1580220682" name="Text 14"/>
          <p:cNvSpPr/>
          <p:nvPr/>
        </p:nvSpPr>
        <p:spPr bwMode="auto">
          <a:xfrm>
            <a:off x="713232" y="46908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STANDARD JOINING FEE</a:t>
            </a:r>
            <a:endParaRPr lang="en-US" sz="1150"/>
          </a:p>
        </p:txBody>
      </p:sp>
      <p:sp>
        <p:nvSpPr>
          <p:cNvPr id="214259654" name="Shape 15"/>
          <p:cNvSpPr/>
          <p:nvPr/>
        </p:nvSpPr>
        <p:spPr bwMode="auto">
          <a:xfrm>
            <a:off x="3364992" y="38404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C08A2E"/>
          </a:solidFill>
          <a:ln/>
        </p:spPr>
      </p:sp>
      <p:sp>
        <p:nvSpPr>
          <p:cNvPr id="1463013893" name="Text 16"/>
          <p:cNvSpPr/>
          <p:nvPr/>
        </p:nvSpPr>
        <p:spPr bwMode="auto">
          <a:xfrm>
            <a:off x="3511296" y="4005072"/>
            <a:ext cx="2313432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0C2E22"/>
                </a:solidFill>
                <a:latin typeface="Cambria"/>
                <a:ea typeface="Cambria"/>
                <a:cs typeface="Cambria"/>
              </a:rPr>
              <a:t>K2,000</a:t>
            </a:r>
            <a:endParaRPr lang="en-US" sz="3400"/>
          </a:p>
        </p:txBody>
      </p:sp>
      <p:sp>
        <p:nvSpPr>
          <p:cNvPr id="1905364670" name="Text 17"/>
          <p:cNvSpPr/>
          <p:nvPr/>
        </p:nvSpPr>
        <p:spPr bwMode="auto">
          <a:xfrm>
            <a:off x="3511296" y="46908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3B2E10"/>
                </a:solidFill>
                <a:latin typeface="Calibri"/>
                <a:ea typeface="Calibri"/>
                <a:cs typeface="Calibri"/>
              </a:rPr>
              <a:t>LATE JOINING FEE</a:t>
            </a:r>
            <a:endParaRPr lang="en-US" sz="1150"/>
          </a:p>
        </p:txBody>
      </p:sp>
      <p:sp>
        <p:nvSpPr>
          <p:cNvPr id="884711426" name="Text 18"/>
          <p:cNvSpPr/>
          <p:nvPr/>
        </p:nvSpPr>
        <p:spPr bwMode="auto">
          <a:xfrm>
            <a:off x="3511296" y="49469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7D3CC"/>
                </a:solidFill>
                <a:latin typeface="Calibri"/>
                <a:ea typeface="Calibri"/>
                <a:cs typeface="Calibri"/>
              </a:rPr>
              <a:t>Third month</a:t>
            </a:r>
            <a:endParaRPr lang="en-US" sz="1000"/>
          </a:p>
        </p:txBody>
      </p:sp>
      <p:sp>
        <p:nvSpPr>
          <p:cNvPr id="1306893840" name="Shape 19"/>
          <p:cNvSpPr/>
          <p:nvPr/>
        </p:nvSpPr>
        <p:spPr bwMode="auto">
          <a:xfrm>
            <a:off x="6327648" y="38404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E6EBE5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2038050658" name="Text 20"/>
          <p:cNvSpPr/>
          <p:nvPr/>
        </p:nvSpPr>
        <p:spPr bwMode="auto">
          <a:xfrm>
            <a:off x="6601968" y="4023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Membership status</a:t>
            </a:r>
            <a:endParaRPr lang="en-US" sz="1550"/>
          </a:p>
        </p:txBody>
      </p:sp>
      <p:sp>
        <p:nvSpPr>
          <p:cNvPr id="1038909706" name="Text 21"/>
          <p:cNvSpPr/>
          <p:nvPr/>
        </p:nvSpPr>
        <p:spPr bwMode="auto">
          <a:xfrm>
            <a:off x="6601968" y="4443984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Active  ·  Left Early  ·  Expelled  ·  Deceased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Status drives what the system allows — an expelled member cannot borrow</a:t>
            </a:r>
            <a:endParaRPr lang="en-US" sz="1250"/>
          </a:p>
        </p:txBody>
      </p:sp>
      <p:sp>
        <p:nvSpPr>
          <p:cNvPr id="117435181" name="Shape 22"/>
          <p:cNvSpPr/>
          <p:nvPr/>
        </p:nvSpPr>
        <p:spPr bwMode="auto">
          <a:xfrm>
            <a:off x="566928" y="548640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0C2E22"/>
          </a:solidFill>
          <a:ln/>
        </p:spPr>
      </p:sp>
      <p:sp>
        <p:nvSpPr>
          <p:cNvPr id="516100585" name="Text 23"/>
          <p:cNvSpPr/>
          <p:nvPr/>
        </p:nvSpPr>
        <p:spPr bwMode="auto">
          <a:xfrm>
            <a:off x="914400" y="54864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Automatic lock:  </a:t>
            </a:r>
            <a:r>
              <a:rPr lang="en-US" sz="135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new registrations close after the third month of the cycle — enforced by the system, not by the registrar's diary.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69127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156143277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50"/>
          </a:p>
        </p:txBody>
      </p:sp>
      <p:sp>
        <p:nvSpPr>
          <p:cNvPr id="1999735286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978954182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600"/>
          </a:p>
        </p:txBody>
      </p:sp>
      <p:sp>
        <p:nvSpPr>
          <p:cNvPr id="1206004250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TWO</a:t>
            </a:r>
            <a:endParaRPr lang="en-US" sz="1150"/>
          </a:p>
        </p:txBody>
      </p:sp>
      <p:sp>
        <p:nvSpPr>
          <p:cNvPr id="166322984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Savings</a:t>
            </a:r>
            <a:endParaRPr lang="en-US" sz="3300"/>
          </a:p>
        </p:txBody>
      </p:sp>
      <p:sp>
        <p:nvSpPr>
          <p:cNvPr id="1871849218" name="Shape 6"/>
          <p:cNvSpPr/>
          <p:nvPr/>
        </p:nvSpPr>
        <p:spPr bwMode="auto">
          <a:xfrm>
            <a:off x="566928" y="1481328"/>
            <a:ext cx="6583680" cy="2377440"/>
          </a:xfrm>
          <a:prstGeom prst="roundRect">
            <a:avLst>
              <a:gd name="adj" fmla="val 3846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145864038" name="Text 7"/>
          <p:cNvSpPr/>
          <p:nvPr/>
        </p:nvSpPr>
        <p:spPr bwMode="auto">
          <a:xfrm>
            <a:off x="841248" y="1664208"/>
            <a:ext cx="60350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The monthly ledger, computed not typed</a:t>
            </a:r>
            <a:endParaRPr lang="en-US" sz="1550"/>
          </a:p>
        </p:txBody>
      </p:sp>
      <p:sp>
        <p:nvSpPr>
          <p:cNvPr id="420197362" name="Text 8"/>
          <p:cNvSpPr/>
          <p:nvPr/>
        </p:nvSpPr>
        <p:spPr bwMode="auto">
          <a:xfrm>
            <a:off x="841248" y="2084832"/>
            <a:ext cx="6035039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One savings line per member per month, minimum K500 and only in K500 increments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Total Savings and Net Value recalculated the moment an entry is posted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Corrections are posted as reversing entries — nothing is ever silently edited or deleted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Replaces the month-by-month columns in the SAVINGS and SHARE OUT sheets entirely</a:t>
            </a:r>
            <a:endParaRPr lang="en-US" sz="1250"/>
          </a:p>
        </p:txBody>
      </p:sp>
      <p:sp>
        <p:nvSpPr>
          <p:cNvPr id="129713029" name="Shape 9"/>
          <p:cNvSpPr/>
          <p:nvPr/>
        </p:nvSpPr>
        <p:spPr bwMode="auto">
          <a:xfrm>
            <a:off x="7424928" y="1481328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4503B"/>
          </a:solidFill>
          <a:ln/>
        </p:spPr>
      </p:sp>
      <p:sp>
        <p:nvSpPr>
          <p:cNvPr id="2085771975" name="Text 10"/>
          <p:cNvSpPr/>
          <p:nvPr/>
        </p:nvSpPr>
        <p:spPr bwMode="auto">
          <a:xfrm>
            <a:off x="7571232" y="1645920"/>
            <a:ext cx="37307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K500</a:t>
            </a:r>
            <a:endParaRPr lang="en-US" sz="3400"/>
          </a:p>
        </p:txBody>
      </p:sp>
      <p:sp>
        <p:nvSpPr>
          <p:cNvPr id="934712017" name="Text 11"/>
          <p:cNvSpPr/>
          <p:nvPr/>
        </p:nvSpPr>
        <p:spPr bwMode="auto">
          <a:xfrm>
            <a:off x="7571232" y="21396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MINIMUM MONTHLY SAVING</a:t>
            </a:r>
            <a:endParaRPr lang="en-US" sz="1150"/>
          </a:p>
        </p:txBody>
      </p:sp>
      <p:sp>
        <p:nvSpPr>
          <p:cNvPr id="713057682" name="Shape 12"/>
          <p:cNvSpPr/>
          <p:nvPr/>
        </p:nvSpPr>
        <p:spPr bwMode="auto">
          <a:xfrm>
            <a:off x="7424928" y="2697480"/>
            <a:ext cx="4023360" cy="1161288"/>
          </a:xfrm>
          <a:prstGeom prst="roundRect">
            <a:avLst>
              <a:gd name="adj" fmla="val 7874"/>
            </a:avLst>
          </a:prstGeom>
          <a:solidFill>
            <a:srgbClr val="2E7256"/>
          </a:solidFill>
          <a:ln/>
        </p:spPr>
      </p:sp>
      <p:sp>
        <p:nvSpPr>
          <p:cNvPr id="568253725" name="Text 13"/>
          <p:cNvSpPr/>
          <p:nvPr/>
        </p:nvSpPr>
        <p:spPr bwMode="auto">
          <a:xfrm>
            <a:off x="7571232" y="2862072"/>
            <a:ext cx="3730752" cy="55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K500</a:t>
            </a:r>
            <a:endParaRPr lang="en-US" sz="3400"/>
          </a:p>
        </p:txBody>
      </p:sp>
      <p:sp>
        <p:nvSpPr>
          <p:cNvPr id="1329188527" name="Text 14"/>
          <p:cNvSpPr/>
          <p:nvPr/>
        </p:nvSpPr>
        <p:spPr bwMode="auto">
          <a:xfrm>
            <a:off x="7571232" y="3394253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FIXED INCREMENT</a:t>
            </a:r>
            <a:endParaRPr lang="en-US" sz="1150"/>
          </a:p>
        </p:txBody>
      </p:sp>
      <p:sp>
        <p:nvSpPr>
          <p:cNvPr id="142272495" name="Text 15"/>
          <p:cNvSpPr/>
          <p:nvPr/>
        </p:nvSpPr>
        <p:spPr bwMode="auto">
          <a:xfrm>
            <a:off x="7571232" y="3650285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7D3CC"/>
                </a:solidFill>
                <a:latin typeface="Calibri"/>
                <a:ea typeface="Calibri"/>
                <a:cs typeface="Calibri"/>
              </a:rPr>
              <a:t>K500 · K1,000 · K1,500 …</a:t>
            </a:r>
            <a:endParaRPr lang="en-US" sz="1000"/>
          </a:p>
        </p:txBody>
      </p:sp>
      <p:sp>
        <p:nvSpPr>
          <p:cNvPr id="75316511" name="Shape 16"/>
          <p:cNvSpPr/>
          <p:nvPr/>
        </p:nvSpPr>
        <p:spPr bwMode="auto">
          <a:xfrm>
            <a:off x="566928" y="4078224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F2F4F1"/>
          </a:solidFill>
          <a:ln/>
        </p:spPr>
      </p:sp>
      <p:sp>
        <p:nvSpPr>
          <p:cNvPr id="725765226" name="Shape 17"/>
          <p:cNvSpPr/>
          <p:nvPr/>
        </p:nvSpPr>
        <p:spPr bwMode="auto">
          <a:xfrm>
            <a:off x="868680" y="4315968"/>
            <a:ext cx="457200" cy="457200"/>
          </a:xfrm>
          <a:prstGeom prst="ellipse">
            <a:avLst/>
          </a:prstGeom>
          <a:solidFill>
            <a:srgbClr val="9B3A2E"/>
          </a:solidFill>
          <a:ln/>
        </p:spPr>
      </p:sp>
      <p:sp>
        <p:nvSpPr>
          <p:cNvPr id="1885732892" name="Text 18"/>
          <p:cNvSpPr/>
          <p:nvPr/>
        </p:nvSpPr>
        <p:spPr bwMode="auto">
          <a:xfrm>
            <a:off x="86868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!</a:t>
            </a:r>
            <a:endParaRPr lang="en-US" sz="1200"/>
          </a:p>
        </p:txBody>
      </p:sp>
      <p:sp>
        <p:nvSpPr>
          <p:cNvPr id="1764796286" name="Text 19"/>
          <p:cNvSpPr/>
          <p:nvPr/>
        </p:nvSpPr>
        <p:spPr bwMode="auto">
          <a:xfrm>
            <a:off x="1481328" y="42793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The September lockdown, enforced automatically</a:t>
            </a:r>
            <a:endParaRPr lang="en-US" sz="1700"/>
          </a:p>
        </p:txBody>
      </p:sp>
      <p:sp>
        <p:nvSpPr>
          <p:cNvPr id="4195115" name="Text 20"/>
          <p:cNvSpPr/>
          <p:nvPr/>
        </p:nvSpPr>
        <p:spPr bwMode="auto">
          <a:xfrm>
            <a:off x="1481328" y="47548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  <a:defRPr/>
            </a:pPr>
            <a:r>
              <a:rPr lang="en-US" sz="13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From 1 September to the end of the cycle the system caps savings at K500 per member per month and refuses every new loan application.</a:t>
            </a:r>
            <a:endParaRPr lang="en-US" sz="1350"/>
          </a:p>
          <a:p>
            <a:pPr marL="0" indent="0">
              <a:lnSpc>
                <a:spcPts val="1900"/>
              </a:lnSpc>
              <a:buNone/>
              <a:defRPr/>
            </a:pPr>
            <a:r>
              <a:rPr lang="en-US" sz="1350" i="1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The rule stops being something the treasurer has to police in a meeting, and becomes something the form will not let you do.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095905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2003834532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50"/>
          </a:p>
        </p:txBody>
      </p:sp>
      <p:sp>
        <p:nvSpPr>
          <p:cNvPr id="1877269661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471973415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600"/>
          </a:p>
        </p:txBody>
      </p:sp>
      <p:sp>
        <p:nvSpPr>
          <p:cNvPr id="912329223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THREE</a:t>
            </a:r>
            <a:endParaRPr lang="en-US" sz="1150"/>
          </a:p>
        </p:txBody>
      </p:sp>
      <p:sp>
        <p:nvSpPr>
          <p:cNvPr id="1680137497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Loans &amp; Lending</a:t>
            </a:r>
            <a:endParaRPr lang="en-US" sz="3300"/>
          </a:p>
        </p:txBody>
      </p:sp>
      <p:sp>
        <p:nvSpPr>
          <p:cNvPr id="1307115878" name="Shape 6"/>
          <p:cNvSpPr/>
          <p:nvPr/>
        </p:nvSpPr>
        <p:spPr bwMode="auto">
          <a:xfrm>
            <a:off x="566928" y="1463040"/>
            <a:ext cx="594360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/>
        </p:spPr>
      </p:sp>
      <p:sp>
        <p:nvSpPr>
          <p:cNvPr id="1429308136" name="Shape 7"/>
          <p:cNvSpPr/>
          <p:nvPr/>
        </p:nvSpPr>
        <p:spPr bwMode="auto">
          <a:xfrm>
            <a:off x="804672" y="1755648"/>
            <a:ext cx="438912" cy="43891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540719172" name="Text 8"/>
          <p:cNvSpPr/>
          <p:nvPr/>
        </p:nvSpPr>
        <p:spPr bwMode="auto">
          <a:xfrm>
            <a:off x="804672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200"/>
          </a:p>
        </p:txBody>
      </p:sp>
      <p:sp>
        <p:nvSpPr>
          <p:cNvPr id="721528866" name="Text 9"/>
          <p:cNvSpPr/>
          <p:nvPr/>
        </p:nvSpPr>
        <p:spPr bwMode="auto">
          <a:xfrm>
            <a:off x="1371600" y="1609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Borrowing ceiling</a:t>
            </a:r>
            <a:endParaRPr lang="en-US" sz="1450"/>
          </a:p>
        </p:txBody>
      </p:sp>
      <p:sp>
        <p:nvSpPr>
          <p:cNvPr id="1620814313" name="Text 10"/>
          <p:cNvSpPr/>
          <p:nvPr/>
        </p:nvSpPr>
        <p:spPr bwMode="auto">
          <a:xfrm>
            <a:off x="137160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Maximum loan is 2× the member's current savings — checked at application, not after disbursement</a:t>
            </a:r>
            <a:endParaRPr lang="en-US" sz="1150"/>
          </a:p>
        </p:txBody>
      </p:sp>
      <p:sp>
        <p:nvSpPr>
          <p:cNvPr id="1195006605" name="Shape 11"/>
          <p:cNvSpPr/>
          <p:nvPr/>
        </p:nvSpPr>
        <p:spPr bwMode="auto">
          <a:xfrm>
            <a:off x="566928" y="2633472"/>
            <a:ext cx="594360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/>
        </p:spPr>
      </p:sp>
      <p:sp>
        <p:nvSpPr>
          <p:cNvPr id="1123908876" name="Shape 12"/>
          <p:cNvSpPr/>
          <p:nvPr/>
        </p:nvSpPr>
        <p:spPr bwMode="auto">
          <a:xfrm>
            <a:off x="804672" y="2926080"/>
            <a:ext cx="438912" cy="43891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487977234" name="Text 13"/>
          <p:cNvSpPr/>
          <p:nvPr/>
        </p:nvSpPr>
        <p:spPr bwMode="auto">
          <a:xfrm>
            <a:off x="804672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200"/>
          </a:p>
        </p:txBody>
      </p:sp>
      <p:sp>
        <p:nvSpPr>
          <p:cNvPr id="2071739534" name="Text 14"/>
          <p:cNvSpPr/>
          <p:nvPr/>
        </p:nvSpPr>
        <p:spPr bwMode="auto">
          <a:xfrm>
            <a:off x="1371600" y="27797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One loan at a time</a:t>
            </a:r>
            <a:endParaRPr lang="en-US" sz="1450"/>
          </a:p>
        </p:txBody>
      </p:sp>
      <p:sp>
        <p:nvSpPr>
          <p:cNvPr id="1759767330" name="Text 15"/>
          <p:cNvSpPr/>
          <p:nvPr/>
        </p:nvSpPr>
        <p:spPr bwMode="auto">
          <a:xfrm>
            <a:off x="1371600" y="30906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A member with an active loan cannot open a second</a:t>
            </a:r>
            <a:endParaRPr lang="en-US" sz="1150"/>
          </a:p>
        </p:txBody>
      </p:sp>
      <p:sp>
        <p:nvSpPr>
          <p:cNvPr id="1836028754" name="Shape 16"/>
          <p:cNvSpPr/>
          <p:nvPr/>
        </p:nvSpPr>
        <p:spPr bwMode="auto">
          <a:xfrm>
            <a:off x="566928" y="3803904"/>
            <a:ext cx="594360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/>
        </p:spPr>
      </p:sp>
      <p:sp>
        <p:nvSpPr>
          <p:cNvPr id="1880742241" name="Shape 17"/>
          <p:cNvSpPr/>
          <p:nvPr/>
        </p:nvSpPr>
        <p:spPr bwMode="auto">
          <a:xfrm>
            <a:off x="804672" y="4096512"/>
            <a:ext cx="438912" cy="43891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02464109" name="Text 18"/>
          <p:cNvSpPr/>
          <p:nvPr/>
        </p:nvSpPr>
        <p:spPr bwMode="auto">
          <a:xfrm>
            <a:off x="804672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200"/>
          </a:p>
        </p:txBody>
      </p:sp>
      <p:sp>
        <p:nvSpPr>
          <p:cNvPr id="449342384" name="Text 19"/>
          <p:cNvSpPr/>
          <p:nvPr/>
        </p:nvSpPr>
        <p:spPr bwMode="auto">
          <a:xfrm>
            <a:off x="1371600" y="3950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Cycle borrowing target</a:t>
            </a:r>
            <a:endParaRPr lang="en-US" sz="1450"/>
          </a:p>
        </p:txBody>
      </p:sp>
      <p:sp>
        <p:nvSpPr>
          <p:cNvPr id="1666703215" name="Text 20"/>
          <p:cNvSpPr/>
          <p:nvPr/>
        </p:nvSpPr>
        <p:spPr bwMode="auto">
          <a:xfrm>
            <a:off x="1371600" y="42611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Minimum K50,000 borrowed per cycle tracked per member as a progress target</a:t>
            </a:r>
            <a:endParaRPr lang="en-US" sz="1150"/>
          </a:p>
        </p:txBody>
      </p:sp>
      <p:sp>
        <p:nvSpPr>
          <p:cNvPr id="1138582764" name="Shape 21"/>
          <p:cNvSpPr/>
          <p:nvPr/>
        </p:nvSpPr>
        <p:spPr bwMode="auto">
          <a:xfrm>
            <a:off x="566928" y="4974336"/>
            <a:ext cx="594360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/>
        </p:spPr>
      </p:sp>
      <p:sp>
        <p:nvSpPr>
          <p:cNvPr id="1389728960" name="Shape 22"/>
          <p:cNvSpPr/>
          <p:nvPr/>
        </p:nvSpPr>
        <p:spPr bwMode="auto">
          <a:xfrm>
            <a:off x="804672" y="5266944"/>
            <a:ext cx="438912" cy="43891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340062182" name="Text 23"/>
          <p:cNvSpPr/>
          <p:nvPr/>
        </p:nvSpPr>
        <p:spPr bwMode="auto">
          <a:xfrm>
            <a:off x="804672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200"/>
          </a:p>
        </p:txBody>
      </p:sp>
      <p:sp>
        <p:nvSpPr>
          <p:cNvPr id="744347721" name="Text 24"/>
          <p:cNvSpPr/>
          <p:nvPr/>
        </p:nvSpPr>
        <p:spPr bwMode="auto">
          <a:xfrm>
            <a:off x="1371600" y="5120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Interest at disbursement</a:t>
            </a:r>
            <a:endParaRPr lang="en-US" sz="1450"/>
          </a:p>
        </p:txBody>
      </p:sp>
      <p:sp>
        <p:nvSpPr>
          <p:cNvPr id="949968447" name="Text 25"/>
          <p:cNvSpPr/>
          <p:nvPr/>
        </p:nvSpPr>
        <p:spPr bwMode="auto">
          <a:xfrm>
            <a:off x="1371600" y="54315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5% reducing balance applied automatically — no manual schedules</a:t>
            </a:r>
            <a:endParaRPr lang="en-US" sz="1150"/>
          </a:p>
        </p:txBody>
      </p:sp>
      <p:sp>
        <p:nvSpPr>
          <p:cNvPr id="238118102" name="Text 26"/>
          <p:cNvSpPr/>
          <p:nvPr/>
        </p:nvSpPr>
        <p:spPr bwMode="auto">
          <a:xfrm>
            <a:off x="681228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Repayment period set by loan size</a:t>
            </a:r>
            <a:endParaRPr lang="en-US" sz="1600"/>
          </a:p>
        </p:txBody>
      </p:sp>
      <p:sp>
        <p:nvSpPr>
          <p:cNvPr id="1565163162" name="Text 27"/>
          <p:cNvSpPr/>
          <p:nvPr/>
        </p:nvSpPr>
        <p:spPr bwMode="auto">
          <a:xfrm>
            <a:off x="681228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The schedule generates itself from the group's own table.</a:t>
            </a:r>
            <a:endParaRPr lang="en-US" sz="1150"/>
          </a:p>
        </p:txBody>
      </p:sp>
      <p:graphicFrame>
        <p:nvGraphicFramePr>
          <p:cNvPr id="596413732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6720840" y="2103120"/>
          <a:ext cx="48006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769109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1002933376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50"/>
          </a:p>
        </p:txBody>
      </p:sp>
      <p:sp>
        <p:nvSpPr>
          <p:cNvPr id="102212207" name="Text 2"/>
          <p:cNvSpPr/>
          <p:nvPr/>
        </p:nvSpPr>
        <p:spPr bwMode="auto">
          <a:xfrm>
            <a:off x="566928" y="47548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Loans under control, all cycle long</a:t>
            </a:r>
            <a:endParaRPr lang="en-US" sz="3200"/>
          </a:p>
        </p:txBody>
      </p:sp>
      <p:sp>
        <p:nvSpPr>
          <p:cNvPr id="1977851262" name="Text 3"/>
          <p:cNvSpPr/>
          <p:nvPr/>
        </p:nvSpPr>
        <p:spPr bwMode="auto">
          <a:xfrm>
            <a:off x="566928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Module Three, continued — penalties, visibility and the November deadline</a:t>
            </a:r>
            <a:endParaRPr lang="en-US" sz="1350"/>
          </a:p>
        </p:txBody>
      </p:sp>
      <p:sp>
        <p:nvSpPr>
          <p:cNvPr id="573588665" name="Shape 4"/>
          <p:cNvSpPr/>
          <p:nvPr/>
        </p:nvSpPr>
        <p:spPr bwMode="auto">
          <a:xfrm>
            <a:off x="566928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C08A2E"/>
          </a:solidFill>
          <a:ln/>
        </p:spPr>
      </p:sp>
      <p:sp>
        <p:nvSpPr>
          <p:cNvPr id="918561501" name="Text 5"/>
          <p:cNvSpPr/>
          <p:nvPr/>
        </p:nvSpPr>
        <p:spPr bwMode="auto">
          <a:xfrm>
            <a:off x="713232" y="1764792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0C2E22"/>
                </a:solidFill>
                <a:latin typeface="Cambria"/>
                <a:ea typeface="Cambria"/>
                <a:cs typeface="Cambria"/>
              </a:rPr>
              <a:t>K100 / day</a:t>
            </a:r>
            <a:endParaRPr lang="en-US" sz="3400"/>
          </a:p>
        </p:txBody>
      </p:sp>
      <p:sp>
        <p:nvSpPr>
          <p:cNvPr id="587569711" name="Text 6"/>
          <p:cNvSpPr/>
          <p:nvPr/>
        </p:nvSpPr>
        <p:spPr bwMode="auto">
          <a:xfrm>
            <a:off x="713232" y="242316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3B2E10"/>
                </a:solidFill>
                <a:latin typeface="Calibri"/>
                <a:ea typeface="Calibri"/>
                <a:cs typeface="Calibri"/>
              </a:rPr>
              <a:t>LATE-SENDING FEE</a:t>
            </a:r>
            <a:endParaRPr lang="en-US" sz="1150"/>
          </a:p>
        </p:txBody>
      </p:sp>
      <p:sp>
        <p:nvSpPr>
          <p:cNvPr id="21112863" name="Text 7"/>
          <p:cNvSpPr/>
          <p:nvPr/>
        </p:nvSpPr>
        <p:spPr bwMode="auto">
          <a:xfrm>
            <a:off x="713232" y="267919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7D3CC"/>
                </a:solidFill>
                <a:latin typeface="Calibri"/>
                <a:ea typeface="Calibri"/>
                <a:cs typeface="Calibri"/>
              </a:rPr>
              <a:t>Routed to the social fund</a:t>
            </a:r>
            <a:endParaRPr lang="en-US" sz="1000"/>
          </a:p>
        </p:txBody>
      </p:sp>
      <p:sp>
        <p:nvSpPr>
          <p:cNvPr id="1705626189" name="Shape 8"/>
          <p:cNvSpPr/>
          <p:nvPr/>
        </p:nvSpPr>
        <p:spPr bwMode="auto">
          <a:xfrm>
            <a:off x="4279392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14503B"/>
          </a:solidFill>
          <a:ln/>
        </p:spPr>
      </p:sp>
      <p:sp>
        <p:nvSpPr>
          <p:cNvPr id="323992796" name="Text 9"/>
          <p:cNvSpPr/>
          <p:nvPr/>
        </p:nvSpPr>
        <p:spPr bwMode="auto">
          <a:xfrm>
            <a:off x="4425696" y="1764792"/>
            <a:ext cx="3227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%</a:t>
            </a:r>
            <a:endParaRPr lang="en-US" sz="3400"/>
          </a:p>
        </p:txBody>
      </p:sp>
      <p:sp>
        <p:nvSpPr>
          <p:cNvPr id="957447186" name="Text 10"/>
          <p:cNvSpPr/>
          <p:nvPr/>
        </p:nvSpPr>
        <p:spPr bwMode="auto">
          <a:xfrm>
            <a:off x="4425696" y="242316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MISSED-INSTALMENT PENALTY</a:t>
            </a:r>
            <a:endParaRPr lang="en-US" sz="1150"/>
          </a:p>
        </p:txBody>
      </p:sp>
      <p:sp>
        <p:nvSpPr>
          <p:cNvPr id="432288679" name="Shape 11"/>
          <p:cNvSpPr/>
          <p:nvPr/>
        </p:nvSpPr>
        <p:spPr bwMode="auto">
          <a:xfrm>
            <a:off x="7991856" y="1600200"/>
            <a:ext cx="3456432" cy="1371600"/>
          </a:xfrm>
          <a:prstGeom prst="roundRect">
            <a:avLst>
              <a:gd name="adj" fmla="val 6667"/>
            </a:avLst>
          </a:prstGeom>
          <a:solidFill>
            <a:srgbClr val="9B3A2E"/>
          </a:solidFill>
          <a:ln/>
        </p:spPr>
      </p:sp>
      <p:sp>
        <p:nvSpPr>
          <p:cNvPr id="1123198538" name="Text 12"/>
          <p:cNvSpPr/>
          <p:nvPr/>
        </p:nvSpPr>
        <p:spPr bwMode="auto">
          <a:xfrm>
            <a:off x="8138160" y="1764792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 Nov</a:t>
            </a:r>
            <a:endParaRPr lang="en-US" sz="3400"/>
          </a:p>
        </p:txBody>
      </p:sp>
      <p:sp>
        <p:nvSpPr>
          <p:cNvPr id="1729358118" name="Text 13"/>
          <p:cNvSpPr/>
          <p:nvPr/>
        </p:nvSpPr>
        <p:spPr bwMode="auto">
          <a:xfrm>
            <a:off x="8138160" y="242316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0CFC7"/>
                </a:solidFill>
                <a:latin typeface="Calibri"/>
                <a:ea typeface="Calibri"/>
                <a:cs typeface="Calibri"/>
              </a:rPr>
              <a:t>FULL REPAYMENT DEADLINE</a:t>
            </a:r>
            <a:endParaRPr lang="en-US" sz="1150"/>
          </a:p>
        </p:txBody>
      </p:sp>
      <p:sp>
        <p:nvSpPr>
          <p:cNvPr id="1043538773" name="Text 14"/>
          <p:cNvSpPr/>
          <p:nvPr/>
        </p:nvSpPr>
        <p:spPr bwMode="auto">
          <a:xfrm>
            <a:off x="8138160" y="267919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7D3CC"/>
                </a:solidFill>
                <a:latin typeface="Calibri"/>
                <a:ea typeface="Calibri"/>
                <a:cs typeface="Calibri"/>
              </a:rPr>
              <a:t>Hard stop and countdown</a:t>
            </a:r>
            <a:endParaRPr lang="en-US" sz="1000"/>
          </a:p>
        </p:txBody>
      </p:sp>
      <p:sp>
        <p:nvSpPr>
          <p:cNvPr id="687560211" name="Shape 15"/>
          <p:cNvSpPr/>
          <p:nvPr/>
        </p:nvSpPr>
        <p:spPr bwMode="auto">
          <a:xfrm>
            <a:off x="566928" y="3182112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2129349617" name="Text 16"/>
          <p:cNvSpPr/>
          <p:nvPr/>
        </p:nvSpPr>
        <p:spPr bwMode="auto">
          <a:xfrm>
            <a:off x="841248" y="3364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Loan status dashboard</a:t>
            </a:r>
            <a:endParaRPr lang="en-US" sz="1550"/>
          </a:p>
        </p:txBody>
      </p:sp>
      <p:sp>
        <p:nvSpPr>
          <p:cNvPr id="108348540" name="Text 17"/>
          <p:cNvSpPr/>
          <p:nvPr/>
        </p:nvSpPr>
        <p:spPr bwMode="auto">
          <a:xfrm>
            <a:off x="841248" y="3785616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Current balance, repayments made and loan carried forward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Column-for-column match with the existing LOANS sheet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Visible to the committee and to the member on their phone</a:t>
            </a:r>
            <a:endParaRPr lang="en-US" sz="1250"/>
          </a:p>
        </p:txBody>
      </p:sp>
      <p:sp>
        <p:nvSpPr>
          <p:cNvPr id="1163908235" name="Shape 18"/>
          <p:cNvSpPr/>
          <p:nvPr/>
        </p:nvSpPr>
        <p:spPr bwMode="auto">
          <a:xfrm>
            <a:off x="6053328" y="3182112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E6EBE5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1907043691" name="Text 19"/>
          <p:cNvSpPr/>
          <p:nvPr/>
        </p:nvSpPr>
        <p:spPr bwMode="auto">
          <a:xfrm>
            <a:off x="6327648" y="3364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Negative net value flag</a:t>
            </a:r>
            <a:endParaRPr lang="en-US" sz="1550"/>
          </a:p>
        </p:txBody>
      </p:sp>
      <p:sp>
        <p:nvSpPr>
          <p:cNvPr id="995094203" name="Text 20"/>
          <p:cNvSpPr/>
          <p:nvPr/>
        </p:nvSpPr>
        <p:spPr bwMode="auto">
          <a:xfrm>
            <a:off x="6327648" y="3785616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Loans exceeding a member's savings are auto-flagged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Mirrors the Min Repayments – Negative NV sheet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Updated live, not once a month</a:t>
            </a:r>
            <a:endParaRPr lang="en-US" sz="1250"/>
          </a:p>
        </p:txBody>
      </p:sp>
      <p:sp>
        <p:nvSpPr>
          <p:cNvPr id="1777694514" name="Shape 21"/>
          <p:cNvSpPr/>
          <p:nvPr/>
        </p:nvSpPr>
        <p:spPr bwMode="auto">
          <a:xfrm>
            <a:off x="566928" y="4892039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0C2E22"/>
          </a:solidFill>
          <a:ln/>
        </p:spPr>
      </p:sp>
      <p:sp>
        <p:nvSpPr>
          <p:cNvPr id="266132628" name="Text 22"/>
          <p:cNvSpPr/>
          <p:nvPr/>
        </p:nvSpPr>
        <p:spPr bwMode="auto">
          <a:xfrm>
            <a:off x="914400" y="5047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What the committee stops doing by hand</a:t>
            </a:r>
            <a:endParaRPr lang="en-US" sz="1500"/>
          </a:p>
        </p:txBody>
      </p:sp>
      <p:sp>
        <p:nvSpPr>
          <p:cNvPr id="2040148961" name="Text 23"/>
          <p:cNvSpPr/>
          <p:nvPr/>
        </p:nvSpPr>
        <p:spPr bwMode="auto">
          <a:xfrm>
            <a:off x="914400" y="53949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Calculating interest · Rebuilding schedules · Chasing who is late · Reconciling carried-forward balances at month end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992267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2030863006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50"/>
          </a:p>
        </p:txBody>
      </p:sp>
      <p:sp>
        <p:nvSpPr>
          <p:cNvPr id="1576562046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823160133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600"/>
          </a:p>
        </p:txBody>
      </p:sp>
      <p:sp>
        <p:nvSpPr>
          <p:cNvPr id="493659479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FOUR</a:t>
            </a:r>
            <a:endParaRPr lang="en-US" sz="1150"/>
          </a:p>
        </p:txBody>
      </p:sp>
      <p:sp>
        <p:nvSpPr>
          <p:cNvPr id="742745709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Social Fund</a:t>
            </a:r>
            <a:endParaRPr lang="en-US" sz="3300"/>
          </a:p>
        </p:txBody>
      </p:sp>
      <p:sp>
        <p:nvSpPr>
          <p:cNvPr id="1813134488" name="Shape 6"/>
          <p:cNvSpPr/>
          <p:nvPr/>
        </p:nvSpPr>
        <p:spPr bwMode="auto">
          <a:xfrm>
            <a:off x="566928" y="1508759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2F4F1"/>
          </a:solidFill>
          <a:ln/>
        </p:spPr>
      </p:sp>
      <p:sp>
        <p:nvSpPr>
          <p:cNvPr id="1244280703" name="Text 7"/>
          <p:cNvSpPr/>
          <p:nvPr/>
        </p:nvSpPr>
        <p:spPr bwMode="auto">
          <a:xfrm>
            <a:off x="777240" y="1618488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C08A2E"/>
                </a:solidFill>
                <a:latin typeface="Cambria"/>
                <a:ea typeface="Cambria"/>
                <a:cs typeface="Cambria"/>
              </a:rPr>
              <a:t>K250</a:t>
            </a:r>
            <a:endParaRPr lang="en-US" sz="2100"/>
          </a:p>
        </p:txBody>
      </p:sp>
      <p:sp>
        <p:nvSpPr>
          <p:cNvPr id="1199988990" name="Text 8"/>
          <p:cNvSpPr/>
          <p:nvPr/>
        </p:nvSpPr>
        <p:spPr bwMode="auto">
          <a:xfrm>
            <a:off x="2468880" y="1618488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Flat contribution tracked per member for the cycle</a:t>
            </a:r>
            <a:endParaRPr lang="en-US" sz="1250"/>
          </a:p>
        </p:txBody>
      </p:sp>
      <p:sp>
        <p:nvSpPr>
          <p:cNvPr id="740328588" name="Shape 9"/>
          <p:cNvSpPr/>
          <p:nvPr/>
        </p:nvSpPr>
        <p:spPr bwMode="auto">
          <a:xfrm>
            <a:off x="566928" y="2569464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E6EBE5"/>
          </a:solidFill>
          <a:ln/>
        </p:spPr>
      </p:sp>
      <p:sp>
        <p:nvSpPr>
          <p:cNvPr id="1821965046" name="Text 10"/>
          <p:cNvSpPr/>
          <p:nvPr/>
        </p:nvSpPr>
        <p:spPr bwMode="auto">
          <a:xfrm>
            <a:off x="777240" y="2679192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C08A2E"/>
                </a:solidFill>
                <a:latin typeface="Cambria"/>
                <a:ea typeface="Cambria"/>
                <a:cs typeface="Cambria"/>
              </a:rPr>
              <a:t>K100/day</a:t>
            </a:r>
            <a:endParaRPr lang="en-US" sz="2100"/>
          </a:p>
        </p:txBody>
      </p:sp>
      <p:sp>
        <p:nvSpPr>
          <p:cNvPr id="1798917401" name="Text 11"/>
          <p:cNvSpPr/>
          <p:nvPr/>
        </p:nvSpPr>
        <p:spPr bwMode="auto">
          <a:xfrm>
            <a:off x="2468880" y="2679192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Late penalties routed into the fund automatically, with the source transaction attached</a:t>
            </a:r>
            <a:endParaRPr lang="en-US" sz="1250"/>
          </a:p>
        </p:txBody>
      </p:sp>
      <p:sp>
        <p:nvSpPr>
          <p:cNvPr id="949616883" name="Shape 12"/>
          <p:cNvSpPr/>
          <p:nvPr/>
        </p:nvSpPr>
        <p:spPr bwMode="auto">
          <a:xfrm>
            <a:off x="566928" y="3630168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2F4F1"/>
          </a:solidFill>
          <a:ln/>
        </p:spPr>
      </p:sp>
      <p:sp>
        <p:nvSpPr>
          <p:cNvPr id="80628590" name="Text 13"/>
          <p:cNvSpPr/>
          <p:nvPr/>
        </p:nvSpPr>
        <p:spPr bwMode="auto">
          <a:xfrm>
            <a:off x="777240" y="3739896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C08A2E"/>
                </a:solidFill>
                <a:latin typeface="Cambria"/>
                <a:ea typeface="Cambria"/>
                <a:cs typeface="Cambria"/>
              </a:rPr>
              <a:t>K1,000</a:t>
            </a:r>
            <a:endParaRPr lang="en-US" sz="2100"/>
          </a:p>
        </p:txBody>
      </p:sp>
      <p:sp>
        <p:nvSpPr>
          <p:cNvPr id="492950143" name="Text 14"/>
          <p:cNvSpPr/>
          <p:nvPr/>
        </p:nvSpPr>
        <p:spPr bwMode="auto">
          <a:xfrm>
            <a:off x="2468880" y="3739896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Funeral grant workflow — claims restricted to parent, spouse or child</a:t>
            </a:r>
            <a:endParaRPr lang="en-US" sz="1250"/>
          </a:p>
        </p:txBody>
      </p:sp>
      <p:sp>
        <p:nvSpPr>
          <p:cNvPr id="1338462428" name="Shape 15"/>
          <p:cNvSpPr/>
          <p:nvPr/>
        </p:nvSpPr>
        <p:spPr bwMode="auto">
          <a:xfrm>
            <a:off x="566928" y="4690872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E6EBE5"/>
          </a:solidFill>
          <a:ln/>
        </p:spPr>
      </p:sp>
      <p:sp>
        <p:nvSpPr>
          <p:cNvPr id="195587664" name="Text 16"/>
          <p:cNvSpPr/>
          <p:nvPr/>
        </p:nvSpPr>
        <p:spPr bwMode="auto">
          <a:xfrm>
            <a:off x="777240" y="480060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C08A2E"/>
                </a:solidFill>
                <a:latin typeface="Cambria"/>
                <a:ea typeface="Cambria"/>
                <a:cs typeface="Cambria"/>
              </a:rPr>
              <a:t>K500</a:t>
            </a:r>
            <a:endParaRPr lang="en-US" sz="2100"/>
          </a:p>
        </p:txBody>
      </p:sp>
      <p:sp>
        <p:nvSpPr>
          <p:cNvPr id="2075088948" name="Text 17"/>
          <p:cNvSpPr/>
          <p:nvPr/>
        </p:nvSpPr>
        <p:spPr bwMode="auto">
          <a:xfrm>
            <a:off x="2468880" y="4800600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Unity Babies payout, tracked from claim to disbursement</a:t>
            </a:r>
            <a:endParaRPr lang="en-US" sz="1250"/>
          </a:p>
        </p:txBody>
      </p:sp>
      <p:sp>
        <p:nvSpPr>
          <p:cNvPr id="588314161" name="Shape 18"/>
          <p:cNvSpPr/>
          <p:nvPr/>
        </p:nvSpPr>
        <p:spPr bwMode="auto">
          <a:xfrm>
            <a:off x="7589520" y="1508759"/>
            <a:ext cx="3858768" cy="4270248"/>
          </a:xfrm>
          <a:prstGeom prst="roundRect">
            <a:avLst>
              <a:gd name="adj" fmla="val 2844"/>
            </a:avLst>
          </a:prstGeom>
          <a:solidFill>
            <a:srgbClr val="14503B"/>
          </a:solidFill>
          <a:ln/>
        </p:spPr>
      </p:sp>
      <p:sp>
        <p:nvSpPr>
          <p:cNvPr id="1002051352" name="Text 19"/>
          <p:cNvSpPr/>
          <p:nvPr/>
        </p:nvSpPr>
        <p:spPr bwMode="auto">
          <a:xfrm>
            <a:off x="7882128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End of cycle</a:t>
            </a:r>
            <a:endParaRPr lang="en-US" sz="2000"/>
          </a:p>
        </p:txBody>
      </p:sp>
      <p:sp>
        <p:nvSpPr>
          <p:cNvPr id="327582207" name="Text 20"/>
          <p:cNvSpPr/>
          <p:nvPr/>
        </p:nvSpPr>
        <p:spPr bwMode="auto">
          <a:xfrm>
            <a:off x="7882128" y="22402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5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The fund closes the cycle with a balance report the board can sign, not reconstruct.</a:t>
            </a:r>
            <a:endParaRPr lang="en-US" sz="1250"/>
          </a:p>
          <a:p>
            <a:pPr marL="0" indent="0">
              <a:lnSpc>
                <a:spcPts val="1700"/>
              </a:lnSpc>
              <a:buNone/>
              <a:defRPr/>
            </a:pPr>
            <a:endParaRPr lang="en-US" sz="1250"/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sz="1250" b="1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Included in the report</a:t>
            </a:r>
            <a:endParaRPr lang="en-US" sz="1250"/>
          </a:p>
        </p:txBody>
      </p:sp>
      <p:sp>
        <p:nvSpPr>
          <p:cNvPr id="2106891971" name="Text 21"/>
          <p:cNvSpPr/>
          <p:nvPr/>
        </p:nvSpPr>
        <p:spPr bwMode="auto">
          <a:xfrm>
            <a:off x="7882128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Closing balance and every inflow</a:t>
            </a:r>
            <a:endParaRPr lang="en-US" sz="120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Grants and payouts made, by member</a:t>
            </a:r>
            <a:endParaRPr lang="en-US" sz="120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Apportionment per member</a:t>
            </a:r>
            <a:endParaRPr lang="en-US" sz="120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Diaspora cash-transfer allocations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594055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757144113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50"/>
          </a:p>
        </p:txBody>
      </p:sp>
      <p:sp>
        <p:nvSpPr>
          <p:cNvPr id="1025244154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961396687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600"/>
          </a:p>
        </p:txBody>
      </p:sp>
      <p:sp>
        <p:nvSpPr>
          <p:cNvPr id="528943778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FIVE</a:t>
            </a:r>
            <a:endParaRPr lang="en-US" sz="1150"/>
          </a:p>
        </p:txBody>
      </p:sp>
      <p:sp>
        <p:nvSpPr>
          <p:cNvPr id="27650961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Declarations &amp; the Trading Cycle</a:t>
            </a:r>
            <a:endParaRPr lang="en-US" sz="3300"/>
          </a:p>
        </p:txBody>
      </p:sp>
      <p:sp>
        <p:nvSpPr>
          <p:cNvPr id="2038668395" name="Text 6"/>
          <p:cNvSpPr/>
          <p:nvPr/>
        </p:nvSpPr>
        <p:spPr bwMode="auto">
          <a:xfrm>
            <a:off x="566928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Every month runs on the same rails.</a:t>
            </a:r>
            <a:endParaRPr lang="en-US" sz="1400"/>
          </a:p>
        </p:txBody>
      </p:sp>
      <p:sp>
        <p:nvSpPr>
          <p:cNvPr id="804496977" name="Shape 7"/>
          <p:cNvSpPr/>
          <p:nvPr/>
        </p:nvSpPr>
        <p:spPr bwMode="auto">
          <a:xfrm>
            <a:off x="566928" y="201168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14503B"/>
          </a:solidFill>
          <a:ln/>
        </p:spPr>
      </p:sp>
      <p:sp>
        <p:nvSpPr>
          <p:cNvPr id="2019164753" name="Text 8"/>
          <p:cNvSpPr/>
          <p:nvPr/>
        </p:nvSpPr>
        <p:spPr bwMode="auto">
          <a:xfrm>
            <a:off x="8686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DAYS 1 – 3</a:t>
            </a:r>
            <a:endParaRPr lang="en-US" sz="1100"/>
          </a:p>
        </p:txBody>
      </p:sp>
      <p:sp>
        <p:nvSpPr>
          <p:cNvPr id="172456138" name="Text 9"/>
          <p:cNvSpPr/>
          <p:nvPr/>
        </p:nvSpPr>
        <p:spPr bwMode="auto">
          <a:xfrm>
            <a:off x="868680" y="2514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Declaration window</a:t>
            </a:r>
            <a:endParaRPr lang="en-US" sz="2100"/>
          </a:p>
        </p:txBody>
      </p:sp>
      <p:sp>
        <p:nvSpPr>
          <p:cNvPr id="1068042397" name="Text 10"/>
          <p:cNvSpPr/>
          <p:nvPr/>
        </p:nvSpPr>
        <p:spPr bwMode="auto">
          <a:xfrm>
            <a:off x="868680" y="297180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Opens 08:00 on the 1st, closes on the 3rd</a:t>
            </a:r>
            <a:endParaRPr lang="en-US" sz="120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Member declares savings amount, loan repayment and any new loan request</a:t>
            </a:r>
            <a:endParaRPr lang="en-US" sz="120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Submitted from a phone, in one form</a:t>
            </a:r>
            <a:endParaRPr lang="en-US" sz="1200"/>
          </a:p>
        </p:txBody>
      </p:sp>
      <p:sp>
        <p:nvSpPr>
          <p:cNvPr id="1551362026" name="Shape 11"/>
          <p:cNvSpPr/>
          <p:nvPr/>
        </p:nvSpPr>
        <p:spPr bwMode="auto">
          <a:xfrm>
            <a:off x="5897880" y="2788920"/>
            <a:ext cx="548640" cy="548640"/>
          </a:xfrm>
          <a:prstGeom prst="chevron">
            <a:avLst>
              <a:gd name="adj" fmla="val 50000"/>
            </a:avLst>
          </a:prstGeom>
          <a:solidFill>
            <a:srgbClr val="C08A2E"/>
          </a:solidFill>
          <a:ln/>
        </p:spPr>
      </p:sp>
      <p:sp>
        <p:nvSpPr>
          <p:cNvPr id="130739471" name="Shape 12"/>
          <p:cNvSpPr/>
          <p:nvPr/>
        </p:nvSpPr>
        <p:spPr bwMode="auto">
          <a:xfrm>
            <a:off x="6583680" y="2011680"/>
            <a:ext cx="4864607" cy="2148840"/>
          </a:xfrm>
          <a:prstGeom prst="roundRect">
            <a:avLst>
              <a:gd name="adj" fmla="val 5106"/>
            </a:avLst>
          </a:prstGeom>
          <a:solidFill>
            <a:srgbClr val="F2F4F1"/>
          </a:solidFill>
          <a:ln/>
        </p:spPr>
      </p:sp>
      <p:sp>
        <p:nvSpPr>
          <p:cNvPr id="345263804" name="Text 13"/>
          <p:cNvSpPr/>
          <p:nvPr/>
        </p:nvSpPr>
        <p:spPr bwMode="auto">
          <a:xfrm>
            <a:off x="6876288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DAYS 4 – 7</a:t>
            </a:r>
            <a:endParaRPr lang="en-US" sz="1100"/>
          </a:p>
        </p:txBody>
      </p:sp>
      <p:sp>
        <p:nvSpPr>
          <p:cNvPr id="1736102670" name="Text 14"/>
          <p:cNvSpPr/>
          <p:nvPr/>
        </p:nvSpPr>
        <p:spPr bwMode="auto">
          <a:xfrm>
            <a:off x="6876288" y="25146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Trading batch</a:t>
            </a:r>
            <a:endParaRPr lang="en-US" sz="2100"/>
          </a:p>
        </p:txBody>
      </p:sp>
      <p:sp>
        <p:nvSpPr>
          <p:cNvPr id="1817341577" name="Text 15"/>
          <p:cNvSpPr/>
          <p:nvPr/>
        </p:nvSpPr>
        <p:spPr bwMode="auto">
          <a:xfrm>
            <a:off x="6876288" y="29718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Declarations compile into one trading batch automatically</a:t>
            </a:r>
            <a:endParaRPr lang="en-US" sz="120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Loan disbursement queue ordered first-come, first-served — the order is recorded, not argued</a:t>
            </a:r>
            <a:endParaRPr lang="en-US" sz="1200"/>
          </a:p>
        </p:txBody>
      </p:sp>
      <p:sp>
        <p:nvSpPr>
          <p:cNvPr id="1873600626" name="Shape 16"/>
          <p:cNvSpPr/>
          <p:nvPr/>
        </p:nvSpPr>
        <p:spPr bwMode="auto">
          <a:xfrm>
            <a:off x="566928" y="4407408"/>
            <a:ext cx="10881360" cy="1481328"/>
          </a:xfrm>
          <a:prstGeom prst="roundRect">
            <a:avLst>
              <a:gd name="adj" fmla="val 7407"/>
            </a:avLst>
          </a:prstGeom>
          <a:solidFill>
            <a:srgbClr val="0C2E22"/>
          </a:solidFill>
          <a:ln/>
        </p:spPr>
      </p:sp>
      <p:sp>
        <p:nvSpPr>
          <p:cNvPr id="629524045" name="Shape 17"/>
          <p:cNvSpPr/>
          <p:nvPr/>
        </p:nvSpPr>
        <p:spPr bwMode="auto">
          <a:xfrm>
            <a:off x="914400" y="4773168"/>
            <a:ext cx="502920" cy="5029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769748270" name="Text 18"/>
          <p:cNvSpPr/>
          <p:nvPr/>
        </p:nvSpPr>
        <p:spPr bwMode="auto">
          <a:xfrm>
            <a:off x="91440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lang="en-US" sz="1200"/>
          </a:p>
        </p:txBody>
      </p:sp>
      <p:sp>
        <p:nvSpPr>
          <p:cNvPr id="1482766611" name="Text 19"/>
          <p:cNvSpPr/>
          <p:nvPr/>
        </p:nvSpPr>
        <p:spPr bwMode="auto">
          <a:xfrm>
            <a:off x="1600200" y="46634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Weekend adjustment, decided in advance</a:t>
            </a:r>
            <a:endParaRPr lang="en-US" sz="1700"/>
          </a:p>
        </p:txBody>
      </p:sp>
      <p:sp>
        <p:nvSpPr>
          <p:cNvPr id="727451784" name="Text 20"/>
          <p:cNvSpPr/>
          <p:nvPr/>
        </p:nvSpPr>
        <p:spPr bwMode="auto">
          <a:xfrm>
            <a:off x="1600200" y="50292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5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When the 7th falls on a Saturday or Sunday the system shifts the close to the Friday before or the Monday after, according to the policy the board sets once — including where the shift crosses a month boundary.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183087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140309118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50"/>
          </a:p>
        </p:txBody>
      </p:sp>
      <p:sp>
        <p:nvSpPr>
          <p:cNvPr id="1876783097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447272729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600"/>
          </a:p>
        </p:txBody>
      </p:sp>
      <p:sp>
        <p:nvSpPr>
          <p:cNvPr id="17092146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SIX</a:t>
            </a:r>
            <a:endParaRPr lang="en-US" sz="1150"/>
          </a:p>
        </p:txBody>
      </p:sp>
      <p:sp>
        <p:nvSpPr>
          <p:cNvPr id="1941306729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Governance</a:t>
            </a:r>
            <a:endParaRPr lang="en-US" sz="3300"/>
          </a:p>
        </p:txBody>
      </p:sp>
      <p:sp>
        <p:nvSpPr>
          <p:cNvPr id="276862365" name="Shape 6"/>
          <p:cNvSpPr/>
          <p:nvPr/>
        </p:nvSpPr>
        <p:spPr bwMode="auto">
          <a:xfrm>
            <a:off x="566928" y="1481328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2062428796" name="Text 7"/>
          <p:cNvSpPr/>
          <p:nvPr/>
        </p:nvSpPr>
        <p:spPr bwMode="auto">
          <a:xfrm>
            <a:off x="841248" y="1664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Committee roster and succession</a:t>
            </a:r>
            <a:endParaRPr lang="en-US" sz="1550"/>
          </a:p>
        </p:txBody>
      </p:sp>
      <p:sp>
        <p:nvSpPr>
          <p:cNvPr id="723152364" name="Text 8"/>
          <p:cNvSpPr/>
          <p:nvPr/>
        </p:nvSpPr>
        <p:spPr bwMode="auto">
          <a:xfrm>
            <a:off x="841248" y="2084832"/>
            <a:ext cx="4846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One-year terms tracked with expiry dates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Automatic succession: Vice-Chairperson → Chairperson, Vice-Treasurer → Treasurer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Every role change is dated and logged</a:t>
            </a:r>
            <a:endParaRPr lang="en-US" sz="1250"/>
          </a:p>
        </p:txBody>
      </p:sp>
      <p:sp>
        <p:nvSpPr>
          <p:cNvPr id="1636759362" name="Shape 9"/>
          <p:cNvSpPr/>
          <p:nvPr/>
        </p:nvSpPr>
        <p:spPr bwMode="auto">
          <a:xfrm>
            <a:off x="6053328" y="1481328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6EBE5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480084117" name="Text 10"/>
          <p:cNvSpPr/>
          <p:nvPr/>
        </p:nvSpPr>
        <p:spPr bwMode="auto">
          <a:xfrm>
            <a:off x="6327648" y="1664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Vote of no confidence</a:t>
            </a:r>
            <a:endParaRPr lang="en-US" sz="1550"/>
          </a:p>
        </p:txBody>
      </p:sp>
      <p:sp>
        <p:nvSpPr>
          <p:cNvPr id="280436176" name="Text 11"/>
          <p:cNvSpPr/>
          <p:nvPr/>
        </p:nvSpPr>
        <p:spPr bwMode="auto">
          <a:xfrm>
            <a:off x="6327648" y="2084832"/>
            <a:ext cx="4846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Signatures and votes counted against the 60% threshold in real time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The count is visible and verifiable — no disputed tallies</a:t>
            </a:r>
            <a:endParaRPr lang="en-US" sz="1250"/>
          </a:p>
        </p:txBody>
      </p:sp>
      <p:sp>
        <p:nvSpPr>
          <p:cNvPr id="2039395147" name="Shape 12"/>
          <p:cNvSpPr/>
          <p:nvPr/>
        </p:nvSpPr>
        <p:spPr bwMode="auto">
          <a:xfrm>
            <a:off x="566928" y="36118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6EBE5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1644327002" name="Text 13"/>
          <p:cNvSpPr/>
          <p:nvPr/>
        </p:nvSpPr>
        <p:spPr bwMode="auto">
          <a:xfrm>
            <a:off x="841248" y="37947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Constitution amendments</a:t>
            </a:r>
            <a:endParaRPr lang="en-US" sz="1550"/>
          </a:p>
        </p:txBody>
      </p:sp>
      <p:sp>
        <p:nvSpPr>
          <p:cNvPr id="2030161466" name="Text 14"/>
          <p:cNvSpPr/>
          <p:nvPr/>
        </p:nvSpPr>
        <p:spPr bwMode="auto">
          <a:xfrm>
            <a:off x="841248" y="4215384"/>
            <a:ext cx="4846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Proposals open only inside the six-month eligibility window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Tracked to the 60% approval threshold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Full history of what changed and when</a:t>
            </a:r>
            <a:endParaRPr lang="en-US" sz="1250"/>
          </a:p>
        </p:txBody>
      </p:sp>
      <p:sp>
        <p:nvSpPr>
          <p:cNvPr id="747077143" name="Shape 15"/>
          <p:cNvSpPr/>
          <p:nvPr/>
        </p:nvSpPr>
        <p:spPr bwMode="auto">
          <a:xfrm>
            <a:off x="6053328" y="36118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659988625" name="Text 16"/>
          <p:cNvSpPr/>
          <p:nvPr/>
        </p:nvSpPr>
        <p:spPr bwMode="auto">
          <a:xfrm>
            <a:off x="6327648" y="37947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Meetings and quorum</a:t>
            </a:r>
            <a:endParaRPr lang="en-US" sz="1550"/>
          </a:p>
        </p:txBody>
      </p:sp>
      <p:sp>
        <p:nvSpPr>
          <p:cNvPr id="458102683" name="Text 17"/>
          <p:cNvSpPr/>
          <p:nvPr/>
        </p:nvSpPr>
        <p:spPr bwMode="auto">
          <a:xfrm>
            <a:off x="6327648" y="4215384"/>
            <a:ext cx="4846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Attendance recorded per meeting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60% quorum tested before a vote can be recorded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Minutes and decisions attached to the meeting record</a:t>
            </a:r>
            <a:endParaRPr lang="en-US" sz="1250"/>
          </a:p>
        </p:txBody>
      </p:sp>
      <p:sp>
        <p:nvSpPr>
          <p:cNvPr id="123685198" name="Text 18"/>
          <p:cNvSpPr/>
          <p:nvPr/>
        </p:nvSpPr>
        <p:spPr bwMode="auto">
          <a:xfrm>
            <a:off x="566928" y="57424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Thresholds stop being a matter of recollection. They are counted, displayed and evidenced.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50625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482256961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50"/>
          </a:p>
        </p:txBody>
      </p:sp>
      <p:sp>
        <p:nvSpPr>
          <p:cNvPr id="1235109742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04684205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lang="en-US" sz="1600"/>
          </a:p>
        </p:txBody>
      </p:sp>
      <p:sp>
        <p:nvSpPr>
          <p:cNvPr id="1772617023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SEVEN</a:t>
            </a:r>
            <a:endParaRPr lang="en-US" sz="1150"/>
          </a:p>
        </p:txBody>
      </p:sp>
      <p:sp>
        <p:nvSpPr>
          <p:cNvPr id="825905977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Exit, Expulsion &amp; Bereavement</a:t>
            </a:r>
            <a:endParaRPr lang="en-US" sz="3300"/>
          </a:p>
        </p:txBody>
      </p:sp>
      <p:sp>
        <p:nvSpPr>
          <p:cNvPr id="1038506206" name="Text 6"/>
          <p:cNvSpPr/>
          <p:nvPr/>
        </p:nvSpPr>
        <p:spPr bwMode="auto">
          <a:xfrm>
            <a:off x="566928" y="1444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Three difficult conversations, each with the arithmetic already done.</a:t>
            </a:r>
            <a:endParaRPr lang="en-US" sz="1400"/>
          </a:p>
        </p:txBody>
      </p:sp>
      <p:sp>
        <p:nvSpPr>
          <p:cNvPr id="1625517192" name="Shape 7"/>
          <p:cNvSpPr/>
          <p:nvPr/>
        </p:nvSpPr>
        <p:spPr bwMode="auto">
          <a:xfrm>
            <a:off x="566928" y="1901952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14503B"/>
          </a:solidFill>
          <a:ln/>
        </p:spPr>
      </p:sp>
      <p:sp>
        <p:nvSpPr>
          <p:cNvPr id="2126530267" name="Text 8"/>
          <p:cNvSpPr/>
          <p:nvPr/>
        </p:nvSpPr>
        <p:spPr bwMode="auto">
          <a:xfrm>
            <a:off x="841248" y="215798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Early leaver</a:t>
            </a:r>
            <a:endParaRPr lang="en-US" sz="2000"/>
          </a:p>
        </p:txBody>
      </p:sp>
      <p:sp>
        <p:nvSpPr>
          <p:cNvPr id="1508747992" name="Shape 9"/>
          <p:cNvSpPr/>
          <p:nvPr/>
        </p:nvSpPr>
        <p:spPr bwMode="auto">
          <a:xfrm>
            <a:off x="841248" y="26974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99592776" name="Text 10"/>
          <p:cNvSpPr/>
          <p:nvPr/>
        </p:nvSpPr>
        <p:spPr bwMode="auto">
          <a:xfrm>
            <a:off x="950976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Savings only</a:t>
            </a:r>
            <a:endParaRPr lang="en-US" sz="1500"/>
          </a:p>
        </p:txBody>
      </p:sp>
      <p:sp>
        <p:nvSpPr>
          <p:cNvPr id="493322753" name="Text 11"/>
          <p:cNvSpPr/>
          <p:nvPr/>
        </p:nvSpPr>
        <p:spPr bwMode="auto">
          <a:xfrm>
            <a:off x="841248" y="3767328"/>
            <a:ext cx="288036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No interest is paid. The calculator produces the payable figure and the statement behind it.</a:t>
            </a:r>
            <a:endParaRPr lang="en-US" sz="1200"/>
          </a:p>
        </p:txBody>
      </p:sp>
      <p:sp>
        <p:nvSpPr>
          <p:cNvPr id="1913811257" name="Shape 12"/>
          <p:cNvSpPr/>
          <p:nvPr/>
        </p:nvSpPr>
        <p:spPr bwMode="auto">
          <a:xfrm>
            <a:off x="4270248" y="1901952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C08A2E"/>
          </a:solidFill>
          <a:ln/>
        </p:spPr>
      </p:sp>
      <p:sp>
        <p:nvSpPr>
          <p:cNvPr id="2045258080" name="Text 13"/>
          <p:cNvSpPr/>
          <p:nvPr/>
        </p:nvSpPr>
        <p:spPr bwMode="auto">
          <a:xfrm>
            <a:off x="4544568" y="215798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C2E22"/>
                </a:solidFill>
                <a:latin typeface="Cambria"/>
                <a:ea typeface="Cambria"/>
                <a:cs typeface="Cambria"/>
              </a:rPr>
              <a:t>Expulsion</a:t>
            </a:r>
            <a:endParaRPr lang="en-US" sz="2000"/>
          </a:p>
        </p:txBody>
      </p:sp>
      <p:sp>
        <p:nvSpPr>
          <p:cNvPr id="1859261212" name="Shape 14"/>
          <p:cNvSpPr/>
          <p:nvPr/>
        </p:nvSpPr>
        <p:spPr bwMode="auto">
          <a:xfrm>
            <a:off x="4544568" y="26974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76390762" name="Text 15"/>
          <p:cNvSpPr/>
          <p:nvPr/>
        </p:nvSpPr>
        <p:spPr bwMode="auto">
          <a:xfrm>
            <a:off x="4654296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C2E22"/>
                </a:solidFill>
                <a:latin typeface="Cambria"/>
                <a:ea typeface="Cambria"/>
                <a:cs typeface="Cambria"/>
              </a:rPr>
              <a:t>Savings − outstanding loans</a:t>
            </a:r>
            <a:endParaRPr lang="en-US" sz="1500"/>
          </a:p>
        </p:txBody>
      </p:sp>
      <p:sp>
        <p:nvSpPr>
          <p:cNvPr id="659299678" name="Text 16"/>
          <p:cNvSpPr/>
          <p:nvPr/>
        </p:nvSpPr>
        <p:spPr bwMode="auto">
          <a:xfrm>
            <a:off x="4544568" y="3767328"/>
            <a:ext cx="288036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00">
                <a:solidFill>
                  <a:srgbClr val="3B2E10"/>
                </a:solidFill>
                <a:latin typeface="Calibri"/>
                <a:ea typeface="Calibri"/>
                <a:cs typeface="Calibri"/>
              </a:rPr>
              <a:t>No interest is paid. Outstanding balances are netted off before payout.</a:t>
            </a:r>
            <a:endParaRPr lang="en-US" sz="1200"/>
          </a:p>
        </p:txBody>
      </p:sp>
      <p:sp>
        <p:nvSpPr>
          <p:cNvPr id="1186560611" name="Shape 17"/>
          <p:cNvSpPr/>
          <p:nvPr/>
        </p:nvSpPr>
        <p:spPr bwMode="auto">
          <a:xfrm>
            <a:off x="7973568" y="1901952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C2E22"/>
          </a:solidFill>
          <a:ln/>
        </p:spPr>
      </p:sp>
      <p:sp>
        <p:nvSpPr>
          <p:cNvPr id="1448670016" name="Text 18"/>
          <p:cNvSpPr/>
          <p:nvPr/>
        </p:nvSpPr>
        <p:spPr bwMode="auto">
          <a:xfrm>
            <a:off x="8247888" y="215798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Death in family</a:t>
            </a:r>
            <a:endParaRPr lang="en-US" sz="2000"/>
          </a:p>
        </p:txBody>
      </p:sp>
      <p:sp>
        <p:nvSpPr>
          <p:cNvPr id="66710556" name="Shape 19"/>
          <p:cNvSpPr/>
          <p:nvPr/>
        </p:nvSpPr>
        <p:spPr bwMode="auto">
          <a:xfrm>
            <a:off x="8247888" y="26974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14671965" name="Text 20"/>
          <p:cNvSpPr/>
          <p:nvPr/>
        </p:nvSpPr>
        <p:spPr bwMode="auto">
          <a:xfrm>
            <a:off x="8357616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Savings − loan + interest to date</a:t>
            </a:r>
            <a:endParaRPr lang="en-US" sz="1500"/>
          </a:p>
        </p:txBody>
      </p:sp>
      <p:sp>
        <p:nvSpPr>
          <p:cNvPr id="2069316679" name="Text 21"/>
          <p:cNvSpPr/>
          <p:nvPr/>
        </p:nvSpPr>
        <p:spPr bwMode="auto">
          <a:xfrm>
            <a:off x="8247888" y="3767328"/>
            <a:ext cx="288036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Interest earned to date is paid out. Where the loan exceeds savings, a next-of-kin repayment arrangement is opened and tracked.</a:t>
            </a:r>
            <a:endParaRPr lang="en-US" sz="1200"/>
          </a:p>
        </p:txBody>
      </p:sp>
      <p:sp>
        <p:nvSpPr>
          <p:cNvPr id="2005464887" name="Text 22"/>
          <p:cNvSpPr/>
          <p:nvPr/>
        </p:nvSpPr>
        <p:spPr bwMode="auto">
          <a:xfrm>
            <a:off x="566928" y="570585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Every payout is generated from the ledger, printed as a statement, and logged against the member record.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752883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1168608442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950"/>
          </a:p>
        </p:txBody>
      </p:sp>
      <p:sp>
        <p:nvSpPr>
          <p:cNvPr id="1904424113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522807257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lang="en-US" sz="1600"/>
          </a:p>
        </p:txBody>
      </p:sp>
      <p:sp>
        <p:nvSpPr>
          <p:cNvPr id="1503792899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EIGHT</a:t>
            </a:r>
            <a:endParaRPr lang="en-US" sz="1150"/>
          </a:p>
        </p:txBody>
      </p:sp>
      <p:sp>
        <p:nvSpPr>
          <p:cNvPr id="410833903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Share-Out &amp; Reporting</a:t>
            </a:r>
            <a:endParaRPr lang="en-US" sz="3300"/>
          </a:p>
        </p:txBody>
      </p:sp>
      <p:sp>
        <p:nvSpPr>
          <p:cNvPr id="411762354" name="Shape 6"/>
          <p:cNvSpPr/>
          <p:nvPr/>
        </p:nvSpPr>
        <p:spPr bwMode="auto">
          <a:xfrm>
            <a:off x="566928" y="1481328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293519215" name="Text 7"/>
          <p:cNvSpPr/>
          <p:nvPr/>
        </p:nvSpPr>
        <p:spPr bwMode="auto">
          <a:xfrm>
            <a:off x="841248" y="16642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The share-out calculator</a:t>
            </a:r>
            <a:endParaRPr lang="en-US" sz="1550"/>
          </a:p>
        </p:txBody>
      </p:sp>
      <p:sp>
        <p:nvSpPr>
          <p:cNvPr id="774395065" name="Text 8"/>
          <p:cNvSpPr/>
          <p:nvPr/>
        </p:nvSpPr>
        <p:spPr bwMode="auto">
          <a:xfrm>
            <a:off x="841248" y="2084832"/>
            <a:ext cx="5212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Replicates the SHARE OUT sheet exactly: net value, round-off adjustment, net payable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Runs from the live ledger, so the figure is never re-keyed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Produces a per-member statement and a group summary the board signs off</a:t>
            </a:r>
            <a:endParaRPr lang="en-US" sz="1250"/>
          </a:p>
        </p:txBody>
      </p:sp>
      <p:sp>
        <p:nvSpPr>
          <p:cNvPr id="512221373" name="Shape 9"/>
          <p:cNvSpPr/>
          <p:nvPr/>
        </p:nvSpPr>
        <p:spPr bwMode="auto">
          <a:xfrm>
            <a:off x="6419088" y="1481328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E6EBE5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2134166054" name="Text 10"/>
          <p:cNvSpPr/>
          <p:nvPr/>
        </p:nvSpPr>
        <p:spPr bwMode="auto">
          <a:xfrm>
            <a:off x="6693408" y="16642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Monthly statements</a:t>
            </a:r>
            <a:endParaRPr lang="en-US" sz="1550"/>
          </a:p>
        </p:txBody>
      </p:sp>
      <p:sp>
        <p:nvSpPr>
          <p:cNvPr id="1063500034" name="Text 11"/>
          <p:cNvSpPr/>
          <p:nvPr/>
        </p:nvSpPr>
        <p:spPr bwMode="auto">
          <a:xfrm>
            <a:off x="6693408" y="2084832"/>
            <a:ext cx="4480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Auto-generated and shared with members every month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Satisfies the constitution's requirement that accounts are recorded and shared monthly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Exportable to Excel and PDF</a:t>
            </a:r>
            <a:endParaRPr lang="en-US" sz="1250"/>
          </a:p>
        </p:txBody>
      </p:sp>
      <p:sp>
        <p:nvSpPr>
          <p:cNvPr id="533432563" name="Text 12"/>
          <p:cNvSpPr/>
          <p:nvPr/>
        </p:nvSpPr>
        <p:spPr bwMode="auto">
          <a:xfrm>
            <a:off x="566928" y="3977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The dashboard the committee opens first</a:t>
            </a:r>
            <a:endParaRPr lang="en-US" sz="1700"/>
          </a:p>
        </p:txBody>
      </p:sp>
      <p:sp>
        <p:nvSpPr>
          <p:cNvPr id="712446538" name="Shape 13"/>
          <p:cNvSpPr/>
          <p:nvPr/>
        </p:nvSpPr>
        <p:spPr bwMode="auto">
          <a:xfrm>
            <a:off x="566928" y="4407408"/>
            <a:ext cx="2587752" cy="1325880"/>
          </a:xfrm>
          <a:prstGeom prst="roundRect">
            <a:avLst>
              <a:gd name="adj" fmla="val 6897"/>
            </a:avLst>
          </a:prstGeom>
          <a:solidFill>
            <a:srgbClr val="14503B"/>
          </a:solidFill>
          <a:ln/>
        </p:spPr>
      </p:sp>
      <p:sp>
        <p:nvSpPr>
          <p:cNvPr id="1990689642" name="Text 14"/>
          <p:cNvSpPr/>
          <p:nvPr/>
        </p:nvSpPr>
        <p:spPr bwMode="auto">
          <a:xfrm>
            <a:off x="768096" y="4407408"/>
            <a:ext cx="21854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Total group savings</a:t>
            </a:r>
            <a:endParaRPr lang="en-US" sz="1500"/>
          </a:p>
        </p:txBody>
      </p:sp>
      <p:sp>
        <p:nvSpPr>
          <p:cNvPr id="1986119872" name="Shape 15"/>
          <p:cNvSpPr/>
          <p:nvPr/>
        </p:nvSpPr>
        <p:spPr bwMode="auto">
          <a:xfrm>
            <a:off x="3355848" y="4407408"/>
            <a:ext cx="2587752" cy="1325880"/>
          </a:xfrm>
          <a:prstGeom prst="roundRect">
            <a:avLst>
              <a:gd name="adj" fmla="val 6897"/>
            </a:avLst>
          </a:prstGeom>
          <a:solidFill>
            <a:srgbClr val="2E7256"/>
          </a:solidFill>
          <a:ln/>
        </p:spPr>
      </p:sp>
      <p:sp>
        <p:nvSpPr>
          <p:cNvPr id="341103962" name="Text 16"/>
          <p:cNvSpPr/>
          <p:nvPr/>
        </p:nvSpPr>
        <p:spPr bwMode="auto">
          <a:xfrm>
            <a:off x="3557016" y="4407408"/>
            <a:ext cx="21854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Total loans outstanding</a:t>
            </a:r>
            <a:endParaRPr lang="en-US" sz="1500"/>
          </a:p>
        </p:txBody>
      </p:sp>
      <p:sp>
        <p:nvSpPr>
          <p:cNvPr id="1476774638" name="Shape 17"/>
          <p:cNvSpPr/>
          <p:nvPr/>
        </p:nvSpPr>
        <p:spPr bwMode="auto">
          <a:xfrm>
            <a:off x="6144768" y="4407408"/>
            <a:ext cx="2587752" cy="1325880"/>
          </a:xfrm>
          <a:prstGeom prst="roundRect">
            <a:avLst>
              <a:gd name="adj" fmla="val 6897"/>
            </a:avLst>
          </a:prstGeom>
          <a:solidFill>
            <a:srgbClr val="C08A2E"/>
          </a:solidFill>
          <a:ln/>
        </p:spPr>
      </p:sp>
      <p:sp>
        <p:nvSpPr>
          <p:cNvPr id="1711418655" name="Text 18"/>
          <p:cNvSpPr/>
          <p:nvPr/>
        </p:nvSpPr>
        <p:spPr bwMode="auto">
          <a:xfrm>
            <a:off x="6345936" y="4407408"/>
            <a:ext cx="21854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C2E22"/>
                </a:solidFill>
                <a:latin typeface="Cambria"/>
                <a:ea typeface="Cambria"/>
                <a:cs typeface="Cambria"/>
              </a:rPr>
              <a:t>Social fund balance</a:t>
            </a:r>
            <a:endParaRPr lang="en-US" sz="1500"/>
          </a:p>
        </p:txBody>
      </p:sp>
      <p:sp>
        <p:nvSpPr>
          <p:cNvPr id="877222439" name="Shape 19"/>
          <p:cNvSpPr/>
          <p:nvPr/>
        </p:nvSpPr>
        <p:spPr bwMode="auto">
          <a:xfrm>
            <a:off x="8933688" y="4407408"/>
            <a:ext cx="2587752" cy="1325880"/>
          </a:xfrm>
          <a:prstGeom prst="roundRect">
            <a:avLst>
              <a:gd name="adj" fmla="val 6897"/>
            </a:avLst>
          </a:prstGeom>
          <a:solidFill>
            <a:srgbClr val="9B3A2E"/>
          </a:solidFill>
          <a:ln/>
        </p:spPr>
      </p:sp>
      <p:sp>
        <p:nvSpPr>
          <p:cNvPr id="263043252" name="Text 20"/>
          <p:cNvSpPr/>
          <p:nvPr/>
        </p:nvSpPr>
        <p:spPr bwMode="auto">
          <a:xfrm>
            <a:off x="9134856" y="4407408"/>
            <a:ext cx="21854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Defaulters list</a:t>
            </a:r>
            <a:endParaRPr lang="en-US" sz="1500"/>
          </a:p>
        </p:txBody>
      </p:sp>
      <p:sp>
        <p:nvSpPr>
          <p:cNvPr id="1641205555" name="Text 21"/>
          <p:cNvSpPr/>
          <p:nvPr/>
        </p:nvSpPr>
        <p:spPr bwMode="auto">
          <a:xfrm>
            <a:off x="566928" y="5870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Live figures — not a monthly reconstruction.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058244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431793190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950"/>
          </a:p>
        </p:txBody>
      </p:sp>
      <p:sp>
        <p:nvSpPr>
          <p:cNvPr id="1888158842" name="Shape 2"/>
          <p:cNvSpPr/>
          <p:nvPr/>
        </p:nvSpPr>
        <p:spPr bwMode="auto">
          <a:xfrm>
            <a:off x="566928" y="475488"/>
            <a:ext cx="621792" cy="621792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432085813" name="Text 3"/>
          <p:cNvSpPr/>
          <p:nvPr/>
        </p:nvSpPr>
        <p:spPr bwMode="auto">
          <a:xfrm>
            <a:off x="566928" y="475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  <a:endParaRPr lang="en-US" sz="1600"/>
          </a:p>
        </p:txBody>
      </p:sp>
      <p:sp>
        <p:nvSpPr>
          <p:cNvPr id="2089751805" name="Text 4"/>
          <p:cNvSpPr/>
          <p:nvPr/>
        </p:nvSpPr>
        <p:spPr bwMode="auto">
          <a:xfrm>
            <a:off x="1353312" y="4572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200">
                <a:solidFill>
                  <a:srgbClr val="C08A2E"/>
                </a:solidFill>
                <a:latin typeface="Calibri"/>
                <a:ea typeface="Calibri"/>
                <a:cs typeface="Calibri"/>
              </a:rPr>
              <a:t>MODULE NINE</a:t>
            </a:r>
            <a:endParaRPr lang="en-US" sz="1150"/>
          </a:p>
        </p:txBody>
      </p:sp>
      <p:sp>
        <p:nvSpPr>
          <p:cNvPr id="377019354" name="Text 5"/>
          <p:cNvSpPr/>
          <p:nvPr/>
        </p:nvSpPr>
        <p:spPr bwMode="auto"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Notifications &amp; Compliance</a:t>
            </a:r>
            <a:endParaRPr lang="en-US" sz="3300"/>
          </a:p>
        </p:txBody>
      </p:sp>
      <p:sp>
        <p:nvSpPr>
          <p:cNvPr id="1164927894" name="Shape 6"/>
          <p:cNvSpPr/>
          <p:nvPr/>
        </p:nvSpPr>
        <p:spPr bwMode="auto">
          <a:xfrm>
            <a:off x="566928" y="1481328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719007036" name="Shape 7"/>
          <p:cNvSpPr/>
          <p:nvPr/>
        </p:nvSpPr>
        <p:spPr bwMode="auto">
          <a:xfrm>
            <a:off x="822960" y="1700784"/>
            <a:ext cx="384048" cy="38404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193651682" name="Text 8"/>
          <p:cNvSpPr/>
          <p:nvPr/>
        </p:nvSpPr>
        <p:spPr bwMode="auto">
          <a:xfrm>
            <a:off x="82296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200"/>
          </a:p>
        </p:txBody>
      </p:sp>
      <p:sp>
        <p:nvSpPr>
          <p:cNvPr id="412644344" name="Text 9"/>
          <p:cNvSpPr/>
          <p:nvPr/>
        </p:nvSpPr>
        <p:spPr bwMode="auto">
          <a:xfrm>
            <a:off x="1335024" y="1664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Automated reminders</a:t>
            </a:r>
            <a:endParaRPr lang="en-US" sz="1550"/>
          </a:p>
        </p:txBody>
      </p:sp>
      <p:sp>
        <p:nvSpPr>
          <p:cNvPr id="1679393561" name="Text 10"/>
          <p:cNvSpPr/>
          <p:nvPr/>
        </p:nvSpPr>
        <p:spPr bwMode="auto">
          <a:xfrm>
            <a:off x="841248" y="2084832"/>
            <a:ext cx="29718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Declaration window opening and closing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Trading dates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Repayment due dates, before they are missed</a:t>
            </a:r>
            <a:endParaRPr lang="en-US" sz="1250"/>
          </a:p>
        </p:txBody>
      </p:sp>
      <p:sp>
        <p:nvSpPr>
          <p:cNvPr id="784507750" name="Shape 11"/>
          <p:cNvSpPr/>
          <p:nvPr/>
        </p:nvSpPr>
        <p:spPr bwMode="auto">
          <a:xfrm>
            <a:off x="4315968" y="1481328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E6EBE5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779330865" name="Shape 12"/>
          <p:cNvSpPr/>
          <p:nvPr/>
        </p:nvSpPr>
        <p:spPr bwMode="auto">
          <a:xfrm>
            <a:off x="4572000" y="1700784"/>
            <a:ext cx="384048" cy="38404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54783890" name="Text 13"/>
          <p:cNvSpPr/>
          <p:nvPr/>
        </p:nvSpPr>
        <p:spPr bwMode="auto">
          <a:xfrm>
            <a:off x="457200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200"/>
          </a:p>
        </p:txBody>
      </p:sp>
      <p:sp>
        <p:nvSpPr>
          <p:cNvPr id="2002261350" name="Text 14"/>
          <p:cNvSpPr/>
          <p:nvPr/>
        </p:nvSpPr>
        <p:spPr bwMode="auto">
          <a:xfrm>
            <a:off x="5084064" y="1664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Collateral log</a:t>
            </a:r>
            <a:endParaRPr lang="en-US" sz="1550"/>
          </a:p>
        </p:txBody>
      </p:sp>
      <p:sp>
        <p:nvSpPr>
          <p:cNvPr id="1492742049" name="Text 15"/>
          <p:cNvSpPr/>
          <p:nvPr/>
        </p:nvSpPr>
        <p:spPr bwMode="auto">
          <a:xfrm>
            <a:off x="4590288" y="2084832"/>
            <a:ext cx="29718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Household goods claims recorded under the default clause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Linked to the loan and the member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Status tracked from claim to release</a:t>
            </a:r>
            <a:endParaRPr lang="en-US" sz="1250"/>
          </a:p>
        </p:txBody>
      </p:sp>
      <p:sp>
        <p:nvSpPr>
          <p:cNvPr id="1452789251" name="Shape 16"/>
          <p:cNvSpPr/>
          <p:nvPr/>
        </p:nvSpPr>
        <p:spPr bwMode="auto">
          <a:xfrm>
            <a:off x="8065008" y="1481328"/>
            <a:ext cx="3383280" cy="2240280"/>
          </a:xfrm>
          <a:prstGeom prst="roundRect">
            <a:avLst>
              <a:gd name="adj" fmla="val 4082"/>
            </a:avLst>
          </a:prstGeom>
          <a:solidFill>
            <a:srgbClr val="F2F4F1"/>
          </a:solidFill>
          <a:ln/>
          <a:effectLst>
            <a:outerShdw blurRad="127000" dist="19050" dir="5400000" sx="100000" sy="100000" kx="0" ky="0" algn="bl" rotWithShape="0">
              <a:srgbClr val="9AA79F">
                <a:alpha val="22000"/>
              </a:srgbClr>
            </a:outerShdw>
          </a:effectLst>
        </p:spPr>
      </p:sp>
      <p:sp>
        <p:nvSpPr>
          <p:cNvPr id="674031590" name="Shape 17"/>
          <p:cNvSpPr/>
          <p:nvPr/>
        </p:nvSpPr>
        <p:spPr bwMode="auto">
          <a:xfrm>
            <a:off x="8321039" y="1700784"/>
            <a:ext cx="384048" cy="38404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79541076" name="Text 18"/>
          <p:cNvSpPr/>
          <p:nvPr/>
        </p:nvSpPr>
        <p:spPr bwMode="auto">
          <a:xfrm>
            <a:off x="8321039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200"/>
          </a:p>
        </p:txBody>
      </p:sp>
      <p:sp>
        <p:nvSpPr>
          <p:cNvPr id="941489647" name="Text 19"/>
          <p:cNvSpPr/>
          <p:nvPr/>
        </p:nvSpPr>
        <p:spPr bwMode="auto">
          <a:xfrm>
            <a:off x="8833104" y="16642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Audit trail</a:t>
            </a:r>
            <a:endParaRPr lang="en-US" sz="1550"/>
          </a:p>
        </p:txBody>
      </p:sp>
      <p:sp>
        <p:nvSpPr>
          <p:cNvPr id="1219670902" name="Text 20"/>
          <p:cNvSpPr/>
          <p:nvPr/>
        </p:nvSpPr>
        <p:spPr bwMode="auto">
          <a:xfrm>
            <a:off x="8339328" y="2084832"/>
            <a:ext cx="28346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Who entered it, what changed, and when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Applies to every transaction</a:t>
            </a:r>
            <a:endParaRPr lang="en-US" sz="125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Records are appended, never overwritten</a:t>
            </a:r>
            <a:endParaRPr lang="en-US" sz="1250"/>
          </a:p>
        </p:txBody>
      </p:sp>
      <p:sp>
        <p:nvSpPr>
          <p:cNvPr id="80114151" name="Shape 21"/>
          <p:cNvSpPr/>
          <p:nvPr/>
        </p:nvSpPr>
        <p:spPr bwMode="auto">
          <a:xfrm>
            <a:off x="566928" y="397764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0C2E22"/>
          </a:solidFill>
          <a:ln/>
        </p:spPr>
      </p:sp>
      <p:sp>
        <p:nvSpPr>
          <p:cNvPr id="538971362" name="Text 22"/>
          <p:cNvSpPr/>
          <p:nvPr/>
        </p:nvSpPr>
        <p:spPr bwMode="auto">
          <a:xfrm>
            <a:off x="914400" y="4187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Why this matters to the board</a:t>
            </a:r>
            <a:endParaRPr lang="en-US" sz="1800"/>
          </a:p>
        </p:txBody>
      </p:sp>
      <p:sp>
        <p:nvSpPr>
          <p:cNvPr id="858357827" name="Text 23"/>
          <p:cNvSpPr/>
          <p:nvPr/>
        </p:nvSpPr>
        <p:spPr bwMode="auto">
          <a:xfrm>
            <a:off x="914400" y="4590288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4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When a member disputes a figure — and in a thirty-member group over twelve months, one will — the committee answers with a record rather than a recollection. That is the difference between a five-minute clarification and a meeting.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0674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1056251422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950"/>
          </a:p>
        </p:txBody>
      </p:sp>
      <p:sp>
        <p:nvSpPr>
          <p:cNvPr id="1004346085" name="Text 2"/>
          <p:cNvSpPr/>
          <p:nvPr/>
        </p:nvSpPr>
        <p:spPr bwMode="auto">
          <a:xfrm>
            <a:off x="566928" y="47548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How the money is protected</a:t>
            </a:r>
            <a:endParaRPr lang="en-US" sz="3400"/>
          </a:p>
        </p:txBody>
      </p:sp>
      <p:sp>
        <p:nvSpPr>
          <p:cNvPr id="1813564996" name="Text 3"/>
          <p:cNvSpPr/>
          <p:nvPr/>
        </p:nvSpPr>
        <p:spPr bwMode="auto">
          <a:xfrm>
            <a:off x="566928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Four controls that sit underneath every module.</a:t>
            </a:r>
            <a:endParaRPr lang="en-US" sz="1400"/>
          </a:p>
        </p:txBody>
      </p:sp>
      <p:sp>
        <p:nvSpPr>
          <p:cNvPr id="133796763" name="Shape 4"/>
          <p:cNvSpPr/>
          <p:nvPr/>
        </p:nvSpPr>
        <p:spPr bwMode="auto">
          <a:xfrm>
            <a:off x="566928" y="1627632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14503B"/>
          </a:solidFill>
          <a:ln/>
        </p:spPr>
      </p:sp>
      <p:sp>
        <p:nvSpPr>
          <p:cNvPr id="1788166364" name="Shape 5"/>
          <p:cNvSpPr/>
          <p:nvPr/>
        </p:nvSpPr>
        <p:spPr bwMode="auto">
          <a:xfrm>
            <a:off x="859536" y="1901952"/>
            <a:ext cx="475488" cy="47548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621461621" name="Text 6"/>
          <p:cNvSpPr/>
          <p:nvPr/>
        </p:nvSpPr>
        <p:spPr bwMode="auto">
          <a:xfrm>
            <a:off x="859536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200"/>
          </a:p>
        </p:txBody>
      </p:sp>
      <p:sp>
        <p:nvSpPr>
          <p:cNvPr id="1766654632" name="Text 7"/>
          <p:cNvSpPr/>
          <p:nvPr/>
        </p:nvSpPr>
        <p:spPr bwMode="auto">
          <a:xfrm>
            <a:off x="1499616" y="18653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Immutable ledger</a:t>
            </a:r>
            <a:endParaRPr lang="en-US" sz="1700"/>
          </a:p>
        </p:txBody>
      </p:sp>
      <p:sp>
        <p:nvSpPr>
          <p:cNvPr id="2032883453" name="Text 8"/>
          <p:cNvSpPr/>
          <p:nvPr/>
        </p:nvSpPr>
        <p:spPr bwMode="auto">
          <a:xfrm>
            <a:off x="877824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5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Corrections are posted as reversing entries. No record is ever edited or deleted, so history cannot be rewritten.</a:t>
            </a:r>
            <a:endParaRPr lang="en-US" sz="1250"/>
          </a:p>
        </p:txBody>
      </p:sp>
      <p:sp>
        <p:nvSpPr>
          <p:cNvPr id="981092696" name="Shape 9"/>
          <p:cNvSpPr/>
          <p:nvPr/>
        </p:nvSpPr>
        <p:spPr bwMode="auto">
          <a:xfrm>
            <a:off x="6190488" y="1627632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2F4F1"/>
          </a:solidFill>
          <a:ln/>
        </p:spPr>
      </p:sp>
      <p:sp>
        <p:nvSpPr>
          <p:cNvPr id="1332755896" name="Shape 10"/>
          <p:cNvSpPr/>
          <p:nvPr/>
        </p:nvSpPr>
        <p:spPr bwMode="auto">
          <a:xfrm>
            <a:off x="6483096" y="1901952"/>
            <a:ext cx="475488" cy="475488"/>
          </a:xfrm>
          <a:prstGeom prst="ellipse">
            <a:avLst/>
          </a:prstGeom>
          <a:solidFill>
            <a:srgbClr val="14503B"/>
          </a:solidFill>
          <a:ln/>
        </p:spPr>
      </p:sp>
      <p:sp>
        <p:nvSpPr>
          <p:cNvPr id="1756184696" name="Text 11"/>
          <p:cNvSpPr/>
          <p:nvPr/>
        </p:nvSpPr>
        <p:spPr bwMode="auto">
          <a:xfrm>
            <a:off x="6483096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200"/>
          </a:p>
        </p:txBody>
      </p:sp>
      <p:sp>
        <p:nvSpPr>
          <p:cNvPr id="276588371" name="Text 12"/>
          <p:cNvSpPr/>
          <p:nvPr/>
        </p:nvSpPr>
        <p:spPr bwMode="auto">
          <a:xfrm>
            <a:off x="7123176" y="18653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Every rule in one place</a:t>
            </a:r>
            <a:endParaRPr lang="en-US" sz="1700"/>
          </a:p>
        </p:txBody>
      </p:sp>
      <p:sp>
        <p:nvSpPr>
          <p:cNvPr id="87413310" name="Text 13"/>
          <p:cNvSpPr/>
          <p:nvPr/>
        </p:nvSpPr>
        <p:spPr bwMode="auto">
          <a:xfrm>
            <a:off x="6501384" y="2468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Financial rules live in the system's core, not in a form or a spreadsheet formula. They cannot be bypassed by using a different screen.</a:t>
            </a:r>
            <a:endParaRPr lang="en-US" sz="1250"/>
          </a:p>
        </p:txBody>
      </p:sp>
      <p:sp>
        <p:nvSpPr>
          <p:cNvPr id="1129381400" name="Shape 14"/>
          <p:cNvSpPr/>
          <p:nvPr/>
        </p:nvSpPr>
        <p:spPr bwMode="auto">
          <a:xfrm>
            <a:off x="566928" y="37490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2F4F1"/>
          </a:solidFill>
          <a:ln/>
        </p:spPr>
      </p:sp>
      <p:sp>
        <p:nvSpPr>
          <p:cNvPr id="1819374751" name="Shape 15"/>
          <p:cNvSpPr/>
          <p:nvPr/>
        </p:nvSpPr>
        <p:spPr bwMode="auto">
          <a:xfrm>
            <a:off x="859536" y="4023360"/>
            <a:ext cx="475488" cy="475488"/>
          </a:xfrm>
          <a:prstGeom prst="ellipse">
            <a:avLst/>
          </a:prstGeom>
          <a:solidFill>
            <a:srgbClr val="14503B"/>
          </a:solidFill>
          <a:ln/>
        </p:spPr>
      </p:sp>
      <p:sp>
        <p:nvSpPr>
          <p:cNvPr id="1569832929" name="Text 16"/>
          <p:cNvSpPr/>
          <p:nvPr/>
        </p:nvSpPr>
        <p:spPr bwMode="auto">
          <a:xfrm>
            <a:off x="859536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200"/>
          </a:p>
        </p:txBody>
      </p:sp>
      <p:sp>
        <p:nvSpPr>
          <p:cNvPr id="1296109670" name="Text 17"/>
          <p:cNvSpPr/>
          <p:nvPr/>
        </p:nvSpPr>
        <p:spPr bwMode="auto">
          <a:xfrm>
            <a:off x="1499616" y="39867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Role-based access</a:t>
            </a:r>
            <a:endParaRPr lang="en-US" sz="1700"/>
          </a:p>
        </p:txBody>
      </p:sp>
      <p:sp>
        <p:nvSpPr>
          <p:cNvPr id="1288888405" name="Text 18"/>
          <p:cNvSpPr/>
          <p:nvPr/>
        </p:nvSpPr>
        <p:spPr bwMode="auto">
          <a:xfrm>
            <a:off x="877824" y="45902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50">
                <a:solidFill>
                  <a:srgbClr val="16211C"/>
                </a:solidFill>
                <a:latin typeface="Calibri"/>
                <a:ea typeface="Calibri"/>
                <a:cs typeface="Calibri"/>
              </a:rPr>
              <a:t>Chairperson, Treasurer, Vice roles and members each see and do only what their office permits. Approvals are recorded against a person.</a:t>
            </a:r>
            <a:endParaRPr lang="en-US" sz="1250"/>
          </a:p>
        </p:txBody>
      </p:sp>
      <p:sp>
        <p:nvSpPr>
          <p:cNvPr id="1027207822" name="Shape 19"/>
          <p:cNvSpPr/>
          <p:nvPr/>
        </p:nvSpPr>
        <p:spPr bwMode="auto">
          <a:xfrm>
            <a:off x="6190488" y="37490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14503B"/>
          </a:solidFill>
          <a:ln/>
        </p:spPr>
      </p:sp>
      <p:sp>
        <p:nvSpPr>
          <p:cNvPr id="1022286554" name="Shape 20"/>
          <p:cNvSpPr/>
          <p:nvPr/>
        </p:nvSpPr>
        <p:spPr bwMode="auto">
          <a:xfrm>
            <a:off x="6483096" y="4023360"/>
            <a:ext cx="475488" cy="47548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71852310" name="Text 21"/>
          <p:cNvSpPr/>
          <p:nvPr/>
        </p:nvSpPr>
        <p:spPr bwMode="auto">
          <a:xfrm>
            <a:off x="6483096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200"/>
          </a:p>
        </p:txBody>
      </p:sp>
      <p:sp>
        <p:nvSpPr>
          <p:cNvPr id="857801952" name="Text 22"/>
          <p:cNvSpPr/>
          <p:nvPr/>
        </p:nvSpPr>
        <p:spPr bwMode="auto">
          <a:xfrm>
            <a:off x="7123176" y="39867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Amounts held in ngwee</a:t>
            </a:r>
            <a:endParaRPr lang="en-US" sz="1700"/>
          </a:p>
        </p:txBody>
      </p:sp>
      <p:sp>
        <p:nvSpPr>
          <p:cNvPr id="754291762" name="Text 23"/>
          <p:cNvSpPr/>
          <p:nvPr/>
        </p:nvSpPr>
        <p:spPr bwMode="auto">
          <a:xfrm>
            <a:off x="6501384" y="45902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5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All money is stored as whole ngwee, so rounding cannot drift over twelve months of interest and instalments.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269362" name="Text 0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1504190024" name="Text 1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950"/>
          </a:p>
        </p:txBody>
      </p:sp>
      <p:sp>
        <p:nvSpPr>
          <p:cNvPr id="701642728" name="Text 2"/>
          <p:cNvSpPr/>
          <p:nvPr/>
        </p:nvSpPr>
        <p:spPr bwMode="auto">
          <a:xfrm>
            <a:off x="566928" y="47548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4503B"/>
                </a:solidFill>
                <a:latin typeface="Cambria"/>
                <a:ea typeface="Cambria"/>
                <a:cs typeface="Cambria"/>
              </a:rPr>
              <a:t>Delivered in phases, in cycle order</a:t>
            </a:r>
            <a:endParaRPr lang="en-US" sz="3400"/>
          </a:p>
        </p:txBody>
      </p:sp>
      <p:sp>
        <p:nvSpPr>
          <p:cNvPr id="314448376" name="Text 3"/>
          <p:cNvSpPr/>
          <p:nvPr/>
        </p:nvSpPr>
        <p:spPr bwMode="auto">
          <a:xfrm>
            <a:off x="566928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Each phase is usable on its own — the group is never waiting on the whole system to see value.</a:t>
            </a:r>
            <a:endParaRPr lang="en-US" sz="1400"/>
          </a:p>
        </p:txBody>
      </p:sp>
      <p:sp>
        <p:nvSpPr>
          <p:cNvPr id="753798351" name="Shape 4"/>
          <p:cNvSpPr/>
          <p:nvPr/>
        </p:nvSpPr>
        <p:spPr bwMode="auto">
          <a:xfrm>
            <a:off x="566928" y="1691640"/>
            <a:ext cx="2587752" cy="3931920"/>
          </a:xfrm>
          <a:prstGeom prst="roundRect">
            <a:avLst>
              <a:gd name="adj" fmla="val 4240"/>
            </a:avLst>
          </a:prstGeom>
          <a:solidFill>
            <a:srgbClr val="14503B"/>
          </a:solidFill>
          <a:ln/>
        </p:spPr>
      </p:sp>
      <p:sp>
        <p:nvSpPr>
          <p:cNvPr id="1438360602" name="Text 5"/>
          <p:cNvSpPr/>
          <p:nvPr/>
        </p:nvSpPr>
        <p:spPr bwMode="auto">
          <a:xfrm>
            <a:off x="82296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200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PHASE 1</a:t>
            </a:r>
            <a:endParaRPr lang="en-US" sz="1050"/>
          </a:p>
        </p:txBody>
      </p:sp>
      <p:sp>
        <p:nvSpPr>
          <p:cNvPr id="1045664140" name="Text 6"/>
          <p:cNvSpPr/>
          <p:nvPr/>
        </p:nvSpPr>
        <p:spPr bwMode="auto">
          <a:xfrm>
            <a:off x="82296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Foundation</a:t>
            </a:r>
            <a:endParaRPr lang="en-US" sz="1900"/>
          </a:p>
        </p:txBody>
      </p:sp>
      <p:sp>
        <p:nvSpPr>
          <p:cNvPr id="95965604" name="Text 7"/>
          <p:cNvSpPr/>
          <p:nvPr/>
        </p:nvSpPr>
        <p:spPr bwMode="auto">
          <a:xfrm>
            <a:off x="822960" y="306324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Member registry and next-of-kin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Joining fees and status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Roles and permissions</a:t>
            </a:r>
            <a:endParaRPr lang="en-US" sz="1200"/>
          </a:p>
        </p:txBody>
      </p:sp>
      <p:sp>
        <p:nvSpPr>
          <p:cNvPr id="795083432" name="Shape 8"/>
          <p:cNvSpPr/>
          <p:nvPr/>
        </p:nvSpPr>
        <p:spPr bwMode="auto">
          <a:xfrm>
            <a:off x="3355848" y="1691640"/>
            <a:ext cx="2587752" cy="3931920"/>
          </a:xfrm>
          <a:prstGeom prst="roundRect">
            <a:avLst>
              <a:gd name="adj" fmla="val 4240"/>
            </a:avLst>
          </a:prstGeom>
          <a:solidFill>
            <a:srgbClr val="2E7256"/>
          </a:solidFill>
          <a:ln/>
        </p:spPr>
      </p:sp>
      <p:sp>
        <p:nvSpPr>
          <p:cNvPr id="1631408698" name="Text 9"/>
          <p:cNvSpPr/>
          <p:nvPr/>
        </p:nvSpPr>
        <p:spPr bwMode="auto">
          <a:xfrm>
            <a:off x="36118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200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PHASE 2</a:t>
            </a:r>
            <a:endParaRPr lang="en-US" sz="1050"/>
          </a:p>
        </p:txBody>
      </p:sp>
      <p:sp>
        <p:nvSpPr>
          <p:cNvPr id="1186529738" name="Text 10"/>
          <p:cNvSpPr/>
          <p:nvPr/>
        </p:nvSpPr>
        <p:spPr bwMode="auto">
          <a:xfrm>
            <a:off x="361188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monthly engine</a:t>
            </a:r>
            <a:endParaRPr lang="en-US" sz="1900"/>
          </a:p>
        </p:txBody>
      </p:sp>
      <p:sp>
        <p:nvSpPr>
          <p:cNvPr id="1166240619" name="Text 11"/>
          <p:cNvSpPr/>
          <p:nvPr/>
        </p:nvSpPr>
        <p:spPr bwMode="auto">
          <a:xfrm>
            <a:off x="3611880" y="306324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Savings ledger and net value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Declarations and trading window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Loans, schedules, interest</a:t>
            </a:r>
            <a:endParaRPr lang="en-US" sz="1200"/>
          </a:p>
        </p:txBody>
      </p:sp>
      <p:sp>
        <p:nvSpPr>
          <p:cNvPr id="2099384738" name="Shape 12"/>
          <p:cNvSpPr/>
          <p:nvPr/>
        </p:nvSpPr>
        <p:spPr bwMode="auto">
          <a:xfrm>
            <a:off x="6144768" y="1691640"/>
            <a:ext cx="2587752" cy="3931920"/>
          </a:xfrm>
          <a:prstGeom prst="roundRect">
            <a:avLst>
              <a:gd name="adj" fmla="val 4240"/>
            </a:avLst>
          </a:prstGeom>
          <a:solidFill>
            <a:srgbClr val="C08A2E"/>
          </a:solidFill>
          <a:ln/>
        </p:spPr>
      </p:sp>
      <p:sp>
        <p:nvSpPr>
          <p:cNvPr id="715732245" name="Text 13"/>
          <p:cNvSpPr/>
          <p:nvPr/>
        </p:nvSpPr>
        <p:spPr bwMode="auto">
          <a:xfrm>
            <a:off x="640080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200">
                <a:solidFill>
                  <a:srgbClr val="3B2E10"/>
                </a:solidFill>
                <a:latin typeface="Calibri"/>
                <a:ea typeface="Calibri"/>
                <a:cs typeface="Calibri"/>
              </a:rPr>
              <a:t>PHASE 3</a:t>
            </a:r>
            <a:endParaRPr lang="en-US" sz="1050"/>
          </a:p>
        </p:txBody>
      </p:sp>
      <p:sp>
        <p:nvSpPr>
          <p:cNvPr id="752315595" name="Text 14"/>
          <p:cNvSpPr/>
          <p:nvPr/>
        </p:nvSpPr>
        <p:spPr bwMode="auto">
          <a:xfrm>
            <a:off x="640080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0C2E22"/>
                </a:solidFill>
                <a:latin typeface="Cambria"/>
                <a:ea typeface="Cambria"/>
                <a:cs typeface="Cambria"/>
              </a:rPr>
              <a:t>Fund &amp; governance</a:t>
            </a:r>
            <a:endParaRPr lang="en-US" sz="1900"/>
          </a:p>
        </p:txBody>
      </p:sp>
      <p:sp>
        <p:nvSpPr>
          <p:cNvPr id="1007114437" name="Text 15"/>
          <p:cNvSpPr/>
          <p:nvPr/>
        </p:nvSpPr>
        <p:spPr bwMode="auto">
          <a:xfrm>
            <a:off x="6400800" y="306324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3B2E10"/>
                </a:solidFill>
                <a:latin typeface="Calibri"/>
                <a:ea typeface="Calibri"/>
                <a:cs typeface="Calibri"/>
              </a:rPr>
              <a:t>Social fund and grants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3B2E10"/>
                </a:solidFill>
                <a:latin typeface="Calibri"/>
                <a:ea typeface="Calibri"/>
                <a:cs typeface="Calibri"/>
              </a:rPr>
              <a:t>Committee, votes, quorum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3B2E10"/>
                </a:solidFill>
                <a:latin typeface="Calibri"/>
                <a:ea typeface="Calibri"/>
                <a:cs typeface="Calibri"/>
              </a:rPr>
              <a:t>Exit and bereavement workflows</a:t>
            </a:r>
            <a:endParaRPr lang="en-US" sz="1200"/>
          </a:p>
        </p:txBody>
      </p:sp>
      <p:sp>
        <p:nvSpPr>
          <p:cNvPr id="915190949" name="Shape 16"/>
          <p:cNvSpPr/>
          <p:nvPr/>
        </p:nvSpPr>
        <p:spPr bwMode="auto">
          <a:xfrm>
            <a:off x="8933688" y="1691640"/>
            <a:ext cx="2587752" cy="3931920"/>
          </a:xfrm>
          <a:prstGeom prst="roundRect">
            <a:avLst>
              <a:gd name="adj" fmla="val 4240"/>
            </a:avLst>
          </a:prstGeom>
          <a:solidFill>
            <a:srgbClr val="0C2E22"/>
          </a:solidFill>
          <a:ln/>
        </p:spPr>
      </p:sp>
      <p:sp>
        <p:nvSpPr>
          <p:cNvPr id="1946540726" name="Text 17"/>
          <p:cNvSpPr/>
          <p:nvPr/>
        </p:nvSpPr>
        <p:spPr bwMode="auto">
          <a:xfrm>
            <a:off x="91897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200">
                <a:solidFill>
                  <a:srgbClr val="E8C87A"/>
                </a:solidFill>
                <a:latin typeface="Calibri"/>
                <a:ea typeface="Calibri"/>
                <a:cs typeface="Calibri"/>
              </a:rPr>
              <a:t>PHASE 4</a:t>
            </a:r>
            <a:endParaRPr lang="en-US" sz="1050"/>
          </a:p>
        </p:txBody>
      </p:sp>
      <p:sp>
        <p:nvSpPr>
          <p:cNvPr id="169881857" name="Text 18"/>
          <p:cNvSpPr/>
          <p:nvPr/>
        </p:nvSpPr>
        <p:spPr bwMode="auto">
          <a:xfrm>
            <a:off x="918972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Close the cycle</a:t>
            </a:r>
            <a:endParaRPr lang="en-US" sz="1900"/>
          </a:p>
        </p:txBody>
      </p:sp>
      <p:sp>
        <p:nvSpPr>
          <p:cNvPr id="237843459" name="Text 19"/>
          <p:cNvSpPr/>
          <p:nvPr/>
        </p:nvSpPr>
        <p:spPr bwMode="auto">
          <a:xfrm>
            <a:off x="9189720" y="306324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Share-out calculator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Statements and dashboards</a:t>
            </a:r>
            <a:endParaRPr lang="en-US" sz="120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Reminders and audit reporting</a:t>
            </a:r>
            <a:endParaRPr lang="en-US" sz="1200"/>
          </a:p>
        </p:txBody>
      </p:sp>
      <p:sp>
        <p:nvSpPr>
          <p:cNvPr id="196470014" name="Text 20"/>
          <p:cNvSpPr/>
          <p:nvPr/>
        </p:nvSpPr>
        <p:spPr bwMode="auto">
          <a:xfrm>
            <a:off x="566928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Sequencing follows the cycle itself: the group is enrolled, then it saves and lends, then it closes out.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C2E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622712" name="Shape 0"/>
          <p:cNvSpPr/>
          <p:nvPr/>
        </p:nvSpPr>
        <p:spPr bwMode="auto">
          <a:xfrm>
            <a:off x="9509760" y="4206240"/>
            <a:ext cx="4206240" cy="4206240"/>
          </a:xfrm>
          <a:prstGeom prst="ellipse">
            <a:avLst/>
          </a:prstGeom>
          <a:solidFill>
            <a:srgbClr val="14503B">
              <a:alpha val="55000"/>
            </a:srgbClr>
          </a:solidFill>
          <a:ln/>
        </p:spPr>
      </p:sp>
      <p:sp>
        <p:nvSpPr>
          <p:cNvPr id="660053588" name="Shape 1"/>
          <p:cNvSpPr/>
          <p:nvPr/>
        </p:nvSpPr>
        <p:spPr bwMode="auto">
          <a:xfrm>
            <a:off x="10881360" y="5394960"/>
            <a:ext cx="2011680" cy="2011680"/>
          </a:xfrm>
          <a:prstGeom prst="ellipse">
            <a:avLst/>
          </a:prstGeom>
          <a:solidFill>
            <a:srgbClr val="C08A2E">
              <a:alpha val="45000"/>
            </a:srgbClr>
          </a:solidFill>
          <a:ln/>
        </p:spPr>
      </p:sp>
      <p:sp>
        <p:nvSpPr>
          <p:cNvPr id="1472447046" name="Text 2"/>
          <p:cNvSpPr/>
          <p:nvPr/>
        </p:nvSpPr>
        <p:spPr bwMode="auto"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Unity Savings Group Management System</a:t>
            </a:r>
            <a:endParaRPr lang="en-US" sz="950"/>
          </a:p>
        </p:txBody>
      </p:sp>
      <p:sp>
        <p:nvSpPr>
          <p:cNvPr id="29897614" name="Text 3"/>
          <p:cNvSpPr/>
          <p:nvPr/>
        </p:nvSpPr>
        <p:spPr bwMode="auto"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5F6F67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950"/>
          </a:p>
        </p:txBody>
      </p:sp>
      <p:sp>
        <p:nvSpPr>
          <p:cNvPr id="1988192074" name="Text 4"/>
          <p:cNvSpPr/>
          <p:nvPr/>
        </p:nvSpPr>
        <p:spPr bwMode="auto">
          <a:xfrm>
            <a:off x="777240" y="10515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we are asking the board to approve</a:t>
            </a:r>
            <a:endParaRPr lang="en-US" sz="4000"/>
          </a:p>
        </p:txBody>
      </p:sp>
      <p:sp>
        <p:nvSpPr>
          <p:cNvPr id="964934486" name="Shape 5"/>
          <p:cNvSpPr/>
          <p:nvPr/>
        </p:nvSpPr>
        <p:spPr bwMode="auto">
          <a:xfrm>
            <a:off x="822960" y="2697480"/>
            <a:ext cx="512064" cy="51206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707807568" name="Text 6"/>
          <p:cNvSpPr/>
          <p:nvPr/>
        </p:nvSpPr>
        <p:spPr bwMode="auto">
          <a:xfrm>
            <a:off x="82296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600"/>
          </a:p>
        </p:txBody>
      </p:sp>
      <p:sp>
        <p:nvSpPr>
          <p:cNvPr id="1781035244" name="Text 7"/>
          <p:cNvSpPr/>
          <p:nvPr/>
        </p:nvSpPr>
        <p:spPr bwMode="auto">
          <a:xfrm>
            <a:off x="1572768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Endorse the scope</a:t>
            </a:r>
            <a:endParaRPr lang="en-US" sz="1800"/>
          </a:p>
        </p:txBody>
      </p:sp>
      <p:sp>
        <p:nvSpPr>
          <p:cNvPr id="1576326773" name="Text 8"/>
          <p:cNvSpPr/>
          <p:nvPr/>
        </p:nvSpPr>
        <p:spPr bwMode="auto">
          <a:xfrm>
            <a:off x="5486400" y="258775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3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The nine modules as presented, mapped to the constitution and the existing workbook.</a:t>
            </a:r>
            <a:endParaRPr lang="en-US" sz="1300"/>
          </a:p>
        </p:txBody>
      </p:sp>
      <p:sp>
        <p:nvSpPr>
          <p:cNvPr id="1774361021" name="Shape 9"/>
          <p:cNvSpPr/>
          <p:nvPr/>
        </p:nvSpPr>
        <p:spPr bwMode="auto">
          <a:xfrm>
            <a:off x="822960" y="3776472"/>
            <a:ext cx="512064" cy="51206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742979975" name="Text 10"/>
          <p:cNvSpPr/>
          <p:nvPr/>
        </p:nvSpPr>
        <p:spPr bwMode="auto">
          <a:xfrm>
            <a:off x="822960" y="3776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600"/>
          </a:p>
        </p:txBody>
      </p:sp>
      <p:sp>
        <p:nvSpPr>
          <p:cNvPr id="235876838" name="Text 11"/>
          <p:cNvSpPr/>
          <p:nvPr/>
        </p:nvSpPr>
        <p:spPr bwMode="auto">
          <a:xfrm>
            <a:off x="1572768" y="3685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Confirm the rules</a:t>
            </a:r>
            <a:endParaRPr lang="en-US" sz="1800"/>
          </a:p>
        </p:txBody>
      </p:sp>
      <p:sp>
        <p:nvSpPr>
          <p:cNvPr id="1847483866" name="Text 12"/>
          <p:cNvSpPr/>
          <p:nvPr/>
        </p:nvSpPr>
        <p:spPr bwMode="auto">
          <a:xfrm>
            <a:off x="5486400" y="366674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3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Fee amounts, thresholds, penalty rates and the weekend-adjustment policy, so they can be configured once.</a:t>
            </a:r>
            <a:endParaRPr lang="en-US" sz="1300"/>
          </a:p>
        </p:txBody>
      </p:sp>
      <p:sp>
        <p:nvSpPr>
          <p:cNvPr id="152306109" name="Shape 13"/>
          <p:cNvSpPr/>
          <p:nvPr/>
        </p:nvSpPr>
        <p:spPr bwMode="auto">
          <a:xfrm>
            <a:off x="822960" y="4855464"/>
            <a:ext cx="512064" cy="51206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013872129" name="Text 14"/>
          <p:cNvSpPr/>
          <p:nvPr/>
        </p:nvSpPr>
        <p:spPr bwMode="auto">
          <a:xfrm>
            <a:off x="822960" y="4855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600"/>
          </a:p>
        </p:txBody>
      </p:sp>
      <p:sp>
        <p:nvSpPr>
          <p:cNvPr id="1265620405" name="Text 15"/>
          <p:cNvSpPr/>
          <p:nvPr/>
        </p:nvSpPr>
        <p:spPr bwMode="auto">
          <a:xfrm>
            <a:off x="1572768" y="47640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C87A"/>
                </a:solidFill>
                <a:latin typeface="Cambria"/>
                <a:ea typeface="Cambria"/>
                <a:cs typeface="Cambria"/>
              </a:rPr>
              <a:t>Nominate a data owner</a:t>
            </a:r>
            <a:endParaRPr lang="en-US" sz="1800"/>
          </a:p>
        </p:txBody>
      </p:sp>
      <p:sp>
        <p:nvSpPr>
          <p:cNvPr id="1286137629" name="Text 16"/>
          <p:cNvSpPr/>
          <p:nvPr/>
        </p:nvSpPr>
        <p:spPr bwMode="auto">
          <a:xfrm>
            <a:off x="5486400" y="474573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300">
                <a:solidFill>
                  <a:srgbClr val="D6E0DA"/>
                </a:solidFill>
                <a:latin typeface="Calibri"/>
                <a:ea typeface="Calibri"/>
                <a:cs typeface="Calibri"/>
              </a:rPr>
              <a:t>One committee member to sign off the opening balances carried in from the current sheets.</a:t>
            </a:r>
            <a:endParaRPr lang="en-US" sz="1300"/>
          </a:p>
        </p:txBody>
      </p:sp>
      <p:sp>
        <p:nvSpPr>
          <p:cNvPr id="970054889" name="Text 17"/>
          <p:cNvSpPr/>
          <p:nvPr/>
        </p:nvSpPr>
        <p:spPr bwMode="auto">
          <a:xfrm>
            <a:off x="822960" y="6144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FA398"/>
                </a:solidFill>
                <a:latin typeface="Calibri"/>
                <a:ea typeface="Calibri"/>
                <a:cs typeface="Calibri"/>
              </a:rPr>
              <a:t>Unity Savings Group  ·  Cycle 2025 –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Savings Group Management System</dc:title>
  <dc:subject>PptxGenJS Presentation</dc:subject>
  <dc:creator>Unity Savings Group</dc:creator>
  <cp:lastModifiedBy/>
  <cp:revision>2</cp:revision>
  <dcterms:created xsi:type="dcterms:W3CDTF">2026-08-19T15:31:10Z</dcterms:created>
  <dcterms:modified xsi:type="dcterms:W3CDTF">2026-08-19T16:32:25Z</dcterms:modified>
</cp:coreProperties>
</file>